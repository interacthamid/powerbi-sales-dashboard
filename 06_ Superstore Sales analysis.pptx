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5"/>
  </p:notesMasterIdLst>
  <p:sldIdLst>
    <p:sldId id="256" r:id="rId2"/>
    <p:sldId id="257" r:id="rId3"/>
    <p:sldId id="259" r:id="rId4"/>
    <p:sldId id="261" r:id="rId5"/>
    <p:sldId id="262" r:id="rId6"/>
    <p:sldId id="263" r:id="rId7"/>
    <p:sldId id="264" r:id="rId8"/>
    <p:sldId id="265" r:id="rId9"/>
    <p:sldId id="267" r:id="rId10"/>
    <p:sldId id="266" r:id="rId11"/>
    <p:sldId id="268" r:id="rId12"/>
    <p:sldId id="258" r:id="rId13"/>
    <p:sldId id="260"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100" d="100"/>
          <a:sy n="100" d="100"/>
        </p:scale>
        <p:origin x="96" y="1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T"/>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7938557-5A7F-4979-9389-11D5468E67B6}" type="datetimeFigureOut">
              <a:rPr lang="en-AT" smtClean="0"/>
              <a:t>15/01/2026</a:t>
            </a:fld>
            <a:endParaRPr lang="en-AT"/>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T"/>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T"/>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T"/>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0317FD8-D001-4CA8-9134-CB30A0A503B0}" type="slidenum">
              <a:rPr lang="en-AT" smtClean="0"/>
              <a:t>‹#›</a:t>
            </a:fld>
            <a:endParaRPr lang="en-AT"/>
          </a:p>
        </p:txBody>
      </p:sp>
    </p:spTree>
    <p:extLst>
      <p:ext uri="{BB962C8B-B14F-4D97-AF65-F5344CB8AC3E}">
        <p14:creationId xmlns:p14="http://schemas.microsoft.com/office/powerpoint/2010/main" val="258056858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T" dirty="0"/>
          </a:p>
        </p:txBody>
      </p:sp>
      <p:sp>
        <p:nvSpPr>
          <p:cNvPr id="4" name="Slide Number Placeholder 3"/>
          <p:cNvSpPr>
            <a:spLocks noGrp="1"/>
          </p:cNvSpPr>
          <p:nvPr>
            <p:ph type="sldNum" sz="quarter" idx="5"/>
          </p:nvPr>
        </p:nvSpPr>
        <p:spPr/>
        <p:txBody>
          <a:bodyPr/>
          <a:lstStyle/>
          <a:p>
            <a:fld id="{C0317FD8-D001-4CA8-9134-CB30A0A503B0}" type="slidenum">
              <a:rPr lang="en-AT" smtClean="0"/>
              <a:t>6</a:t>
            </a:fld>
            <a:endParaRPr lang="en-AT"/>
          </a:p>
        </p:txBody>
      </p:sp>
    </p:spTree>
    <p:extLst>
      <p:ext uri="{BB962C8B-B14F-4D97-AF65-F5344CB8AC3E}">
        <p14:creationId xmlns:p14="http://schemas.microsoft.com/office/powerpoint/2010/main" val="30983790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T" dirty="0"/>
          </a:p>
        </p:txBody>
      </p:sp>
      <p:sp>
        <p:nvSpPr>
          <p:cNvPr id="4" name="Slide Number Placeholder 3"/>
          <p:cNvSpPr>
            <a:spLocks noGrp="1"/>
          </p:cNvSpPr>
          <p:nvPr>
            <p:ph type="sldNum" sz="quarter" idx="5"/>
          </p:nvPr>
        </p:nvSpPr>
        <p:spPr/>
        <p:txBody>
          <a:bodyPr/>
          <a:lstStyle/>
          <a:p>
            <a:fld id="{C0317FD8-D001-4CA8-9134-CB30A0A503B0}" type="slidenum">
              <a:rPr lang="en-AT" smtClean="0"/>
              <a:t>7</a:t>
            </a:fld>
            <a:endParaRPr lang="en-AT"/>
          </a:p>
        </p:txBody>
      </p:sp>
    </p:spTree>
    <p:extLst>
      <p:ext uri="{BB962C8B-B14F-4D97-AF65-F5344CB8AC3E}">
        <p14:creationId xmlns:p14="http://schemas.microsoft.com/office/powerpoint/2010/main" val="391591820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a:spLocks noChangeAspect="1"/>
          </p:cNvSpPr>
          <p:nvPr/>
        </p:nvSpPr>
        <p:spPr>
          <a:xfrm>
            <a:off x="231140" y="243840"/>
            <a:ext cx="11724640" cy="6377939"/>
          </a:xfrm>
          <a:prstGeom prst="rect">
            <a:avLst/>
          </a:prstGeom>
          <a:solidFill>
            <a:schemeClr val="accent1"/>
          </a:solid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109980" y="882376"/>
            <a:ext cx="9966960" cy="2926080"/>
          </a:xfrm>
        </p:spPr>
        <p:txBody>
          <a:bodyPr anchor="b">
            <a:normAutofit/>
          </a:bodyPr>
          <a:lstStyle>
            <a:lvl1pPr algn="ctr">
              <a:lnSpc>
                <a:spcPct val="85000"/>
              </a:lnSpc>
              <a:defRPr sz="7200" b="1" cap="all" baseline="0">
                <a:solidFill>
                  <a:srgbClr val="FFFFFF"/>
                </a:solidFill>
              </a:defRPr>
            </a:lvl1pPr>
          </a:lstStyle>
          <a:p>
            <a:r>
              <a:rPr lang="en-US"/>
              <a:t>Click to edit Master title style</a:t>
            </a:r>
            <a:endParaRPr lang="en-US" dirty="0"/>
          </a:p>
        </p:txBody>
      </p:sp>
      <p:sp>
        <p:nvSpPr>
          <p:cNvPr id="3" name="Subtitle 2"/>
          <p:cNvSpPr>
            <a:spLocks noGrp="1"/>
          </p:cNvSpPr>
          <p:nvPr>
            <p:ph type="subTitle" idx="1"/>
          </p:nvPr>
        </p:nvSpPr>
        <p:spPr>
          <a:xfrm>
            <a:off x="1709530" y="3869634"/>
            <a:ext cx="8767860" cy="1388165"/>
          </a:xfrm>
        </p:spPr>
        <p:txBody>
          <a:bodyPr>
            <a:normAutofit/>
          </a:bodyPr>
          <a:lstStyle>
            <a:lvl1pPr marL="0" indent="0" algn="ctr">
              <a:buNone/>
              <a:defRPr sz="2200">
                <a:solidFill>
                  <a:srgbClr val="FFFFFF"/>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defRPr>
                <a:solidFill>
                  <a:srgbClr val="FFFFFF"/>
                </a:solidFill>
              </a:defRPr>
            </a:lvl1pPr>
          </a:lstStyle>
          <a:p>
            <a:fld id="{EDC445F3-573B-4B21-AB69-A34CE8BA8366}" type="datetimeFigureOut">
              <a:rPr lang="en-AT" smtClean="0"/>
              <a:t>15/01/2026</a:t>
            </a:fld>
            <a:endParaRPr lang="en-AT"/>
          </a:p>
        </p:txBody>
      </p:sp>
      <p:sp>
        <p:nvSpPr>
          <p:cNvPr id="5" name="Footer Placeholder 4"/>
          <p:cNvSpPr>
            <a:spLocks noGrp="1"/>
          </p:cNvSpPr>
          <p:nvPr>
            <p:ph type="ftr" sz="quarter" idx="11"/>
          </p:nvPr>
        </p:nvSpPr>
        <p:spPr/>
        <p:txBody>
          <a:bodyPr/>
          <a:lstStyle>
            <a:lvl1pPr>
              <a:defRPr>
                <a:solidFill>
                  <a:srgbClr val="FFFFFF"/>
                </a:solidFill>
              </a:defRPr>
            </a:lvl1pPr>
          </a:lstStyle>
          <a:p>
            <a:endParaRPr lang="en-AT"/>
          </a:p>
        </p:txBody>
      </p:sp>
      <p:sp>
        <p:nvSpPr>
          <p:cNvPr id="6" name="Slide Number Placeholder 5"/>
          <p:cNvSpPr>
            <a:spLocks noGrp="1"/>
          </p:cNvSpPr>
          <p:nvPr>
            <p:ph type="sldNum" sz="quarter" idx="12"/>
          </p:nvPr>
        </p:nvSpPr>
        <p:spPr/>
        <p:txBody>
          <a:bodyPr/>
          <a:lstStyle>
            <a:lvl1pPr>
              <a:defRPr>
                <a:solidFill>
                  <a:srgbClr val="FFFFFF"/>
                </a:solidFill>
              </a:defRPr>
            </a:lvl1pPr>
          </a:lstStyle>
          <a:p>
            <a:fld id="{375412C1-EA93-4E4A-85FD-7A5708466472}" type="slidenum">
              <a:rPr lang="en-AT" smtClean="0"/>
              <a:t>‹#›</a:t>
            </a:fld>
            <a:endParaRPr lang="en-AT"/>
          </a:p>
        </p:txBody>
      </p:sp>
      <p:cxnSp>
        <p:nvCxnSpPr>
          <p:cNvPr id="8" name="Straight Connector 7"/>
          <p:cNvCxnSpPr/>
          <p:nvPr/>
        </p:nvCxnSpPr>
        <p:spPr>
          <a:xfrm>
            <a:off x="1978660" y="3733800"/>
            <a:ext cx="8229601" cy="0"/>
          </a:xfrm>
          <a:prstGeom prst="line">
            <a:avLst/>
          </a:prstGeom>
          <a:ln>
            <a:solidFill>
              <a:srgbClr val="FFFFF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91466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DC445F3-573B-4B21-AB69-A34CE8BA8366}" type="datetimeFigureOut">
              <a:rPr lang="en-AT" smtClean="0"/>
              <a:t>15/01/2026</a:t>
            </a:fld>
            <a:endParaRPr lang="en-AT"/>
          </a:p>
        </p:txBody>
      </p:sp>
      <p:sp>
        <p:nvSpPr>
          <p:cNvPr id="5" name="Footer Placeholder 4"/>
          <p:cNvSpPr>
            <a:spLocks noGrp="1"/>
          </p:cNvSpPr>
          <p:nvPr>
            <p:ph type="ftr" sz="quarter" idx="11"/>
          </p:nvPr>
        </p:nvSpPr>
        <p:spPr/>
        <p:txBody>
          <a:bodyPr/>
          <a:lstStyle/>
          <a:p>
            <a:endParaRPr lang="en-AT"/>
          </a:p>
        </p:txBody>
      </p:sp>
      <p:sp>
        <p:nvSpPr>
          <p:cNvPr id="6" name="Slide Number Placeholder 5"/>
          <p:cNvSpPr>
            <a:spLocks noGrp="1"/>
          </p:cNvSpPr>
          <p:nvPr>
            <p:ph type="sldNum" sz="quarter" idx="12"/>
          </p:nvPr>
        </p:nvSpPr>
        <p:spPr/>
        <p:txBody>
          <a:bodyPr/>
          <a:lstStyle/>
          <a:p>
            <a:fld id="{375412C1-EA93-4E4A-85FD-7A5708466472}" type="slidenum">
              <a:rPr lang="en-AT" smtClean="0"/>
              <a:t>‹#›</a:t>
            </a:fld>
            <a:endParaRPr lang="en-AT"/>
          </a:p>
        </p:txBody>
      </p:sp>
    </p:spTree>
    <p:extLst>
      <p:ext uri="{BB962C8B-B14F-4D97-AF65-F5344CB8AC3E}">
        <p14:creationId xmlns:p14="http://schemas.microsoft.com/office/powerpoint/2010/main" val="13584685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06424" y="1173575"/>
            <a:ext cx="9966960" cy="2926080"/>
          </a:xfrm>
        </p:spPr>
        <p:txBody>
          <a:bodyPr anchor="b">
            <a:noAutofit/>
          </a:bodyPr>
          <a:lstStyle>
            <a:lvl1pPr algn="ctr">
              <a:lnSpc>
                <a:spcPct val="85000"/>
              </a:lnSpc>
              <a:defRPr sz="7200" b="0" cap="all" baseline="0"/>
            </a:lvl1pPr>
          </a:lstStyle>
          <a:p>
            <a:r>
              <a:rPr lang="en-US"/>
              <a:t>Click to edit Master title style</a:t>
            </a:r>
            <a:endParaRPr lang="en-US" dirty="0"/>
          </a:p>
        </p:txBody>
      </p:sp>
      <p:sp>
        <p:nvSpPr>
          <p:cNvPr id="3" name="Text Placeholder 2"/>
          <p:cNvSpPr>
            <a:spLocks noGrp="1"/>
          </p:cNvSpPr>
          <p:nvPr>
            <p:ph type="body" idx="1"/>
          </p:nvPr>
        </p:nvSpPr>
        <p:spPr>
          <a:xfrm>
            <a:off x="1709928" y="4154520"/>
            <a:ext cx="8769096" cy="1363806"/>
          </a:xfrm>
        </p:spPr>
        <p:txBody>
          <a:bodyPr anchor="t">
            <a:normAutofit/>
          </a:bodyPr>
          <a:lstStyle>
            <a:lvl1pPr marL="0" indent="0" algn="ctr">
              <a:buNone/>
              <a:defRPr sz="2200">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DC445F3-573B-4B21-AB69-A34CE8BA8366}" type="datetimeFigureOut">
              <a:rPr lang="en-AT" smtClean="0"/>
              <a:t>15/01/2026</a:t>
            </a:fld>
            <a:endParaRPr lang="en-AT"/>
          </a:p>
        </p:txBody>
      </p:sp>
      <p:sp>
        <p:nvSpPr>
          <p:cNvPr id="5" name="Footer Placeholder 4"/>
          <p:cNvSpPr>
            <a:spLocks noGrp="1"/>
          </p:cNvSpPr>
          <p:nvPr>
            <p:ph type="ftr" sz="quarter" idx="11"/>
          </p:nvPr>
        </p:nvSpPr>
        <p:spPr/>
        <p:txBody>
          <a:bodyPr/>
          <a:lstStyle/>
          <a:p>
            <a:endParaRPr lang="en-AT"/>
          </a:p>
        </p:txBody>
      </p:sp>
      <p:sp>
        <p:nvSpPr>
          <p:cNvPr id="6" name="Slide Number Placeholder 5"/>
          <p:cNvSpPr>
            <a:spLocks noGrp="1"/>
          </p:cNvSpPr>
          <p:nvPr>
            <p:ph type="sldNum" sz="quarter" idx="12"/>
          </p:nvPr>
        </p:nvSpPr>
        <p:spPr/>
        <p:txBody>
          <a:bodyPr/>
          <a:lstStyle/>
          <a:p>
            <a:fld id="{375412C1-EA93-4E4A-85FD-7A5708466472}" type="slidenum">
              <a:rPr lang="en-AT" smtClean="0"/>
              <a:t>‹#›</a:t>
            </a:fld>
            <a:endParaRPr lang="en-AT"/>
          </a:p>
        </p:txBody>
      </p:sp>
      <p:cxnSp>
        <p:nvCxnSpPr>
          <p:cNvPr id="7" name="Straight Connector 6"/>
          <p:cNvCxnSpPr/>
          <p:nvPr/>
        </p:nvCxnSpPr>
        <p:spPr>
          <a:xfrm>
            <a:off x="1981200" y="4020408"/>
            <a:ext cx="8229601"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170990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43000" y="2057399"/>
            <a:ext cx="4754880" cy="402336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67612" y="2057400"/>
            <a:ext cx="4754880" cy="402336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DC445F3-573B-4B21-AB69-A34CE8BA8366}" type="datetimeFigureOut">
              <a:rPr lang="en-AT" smtClean="0"/>
              <a:t>15/01/2026</a:t>
            </a:fld>
            <a:endParaRPr lang="en-AT"/>
          </a:p>
        </p:txBody>
      </p:sp>
      <p:sp>
        <p:nvSpPr>
          <p:cNvPr id="6" name="Footer Placeholder 5"/>
          <p:cNvSpPr>
            <a:spLocks noGrp="1"/>
          </p:cNvSpPr>
          <p:nvPr>
            <p:ph type="ftr" sz="quarter" idx="11"/>
          </p:nvPr>
        </p:nvSpPr>
        <p:spPr/>
        <p:txBody>
          <a:bodyPr/>
          <a:lstStyle/>
          <a:p>
            <a:endParaRPr lang="en-AT"/>
          </a:p>
        </p:txBody>
      </p:sp>
      <p:sp>
        <p:nvSpPr>
          <p:cNvPr id="7" name="Slide Number Placeholder 6"/>
          <p:cNvSpPr>
            <a:spLocks noGrp="1"/>
          </p:cNvSpPr>
          <p:nvPr>
            <p:ph type="sldNum" sz="quarter" idx="12"/>
          </p:nvPr>
        </p:nvSpPr>
        <p:spPr/>
        <p:txBody>
          <a:bodyPr/>
          <a:lstStyle/>
          <a:p>
            <a:fld id="{375412C1-EA93-4E4A-85FD-7A5708466472}" type="slidenum">
              <a:rPr lang="en-AT" smtClean="0"/>
              <a:t>‹#›</a:t>
            </a:fld>
            <a:endParaRPr lang="en-AT"/>
          </a:p>
        </p:txBody>
      </p:sp>
    </p:spTree>
    <p:extLst>
      <p:ext uri="{BB962C8B-B14F-4D97-AF65-F5344CB8AC3E}">
        <p14:creationId xmlns:p14="http://schemas.microsoft.com/office/powerpoint/2010/main" val="33882625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143000" y="2001511"/>
            <a:ext cx="4754880" cy="777240"/>
          </a:xfrm>
        </p:spPr>
        <p:txBody>
          <a:bodyPr anchor="ctr"/>
          <a:lstStyle>
            <a:lvl1pPr marL="0" indent="0">
              <a:spcBef>
                <a:spcPts val="0"/>
              </a:spcBef>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43000" y="2721483"/>
            <a:ext cx="4754880" cy="338328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69173" y="1999032"/>
            <a:ext cx="4754880" cy="777240"/>
          </a:xfrm>
        </p:spPr>
        <p:txBody>
          <a:bodyPr anchor="ctr"/>
          <a:lstStyle>
            <a:lvl1pPr marL="0" indent="0">
              <a:spcBef>
                <a:spcPts val="0"/>
              </a:spcBef>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69173" y="2719322"/>
            <a:ext cx="4754880" cy="338328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DC445F3-573B-4B21-AB69-A34CE8BA8366}" type="datetimeFigureOut">
              <a:rPr lang="en-AT" smtClean="0"/>
              <a:t>15/01/2026</a:t>
            </a:fld>
            <a:endParaRPr lang="en-AT"/>
          </a:p>
        </p:txBody>
      </p:sp>
      <p:sp>
        <p:nvSpPr>
          <p:cNvPr id="8" name="Footer Placeholder 7"/>
          <p:cNvSpPr>
            <a:spLocks noGrp="1"/>
          </p:cNvSpPr>
          <p:nvPr>
            <p:ph type="ftr" sz="quarter" idx="11"/>
          </p:nvPr>
        </p:nvSpPr>
        <p:spPr/>
        <p:txBody>
          <a:bodyPr/>
          <a:lstStyle/>
          <a:p>
            <a:endParaRPr lang="en-AT"/>
          </a:p>
        </p:txBody>
      </p:sp>
      <p:sp>
        <p:nvSpPr>
          <p:cNvPr id="9" name="Slide Number Placeholder 8"/>
          <p:cNvSpPr>
            <a:spLocks noGrp="1"/>
          </p:cNvSpPr>
          <p:nvPr>
            <p:ph type="sldNum" sz="quarter" idx="12"/>
          </p:nvPr>
        </p:nvSpPr>
        <p:spPr/>
        <p:txBody>
          <a:bodyPr/>
          <a:lstStyle/>
          <a:p>
            <a:fld id="{375412C1-EA93-4E4A-85FD-7A5708466472}" type="slidenum">
              <a:rPr lang="en-AT" smtClean="0"/>
              <a:t>‹#›</a:t>
            </a:fld>
            <a:endParaRPr lang="en-AT"/>
          </a:p>
        </p:txBody>
      </p:sp>
    </p:spTree>
    <p:extLst>
      <p:ext uri="{BB962C8B-B14F-4D97-AF65-F5344CB8AC3E}">
        <p14:creationId xmlns:p14="http://schemas.microsoft.com/office/powerpoint/2010/main" val="26004536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DC445F3-573B-4B21-AB69-A34CE8BA8366}" type="datetimeFigureOut">
              <a:rPr lang="en-AT" smtClean="0"/>
              <a:t>15/01/2026</a:t>
            </a:fld>
            <a:endParaRPr lang="en-AT"/>
          </a:p>
        </p:txBody>
      </p:sp>
      <p:sp>
        <p:nvSpPr>
          <p:cNvPr id="4" name="Footer Placeholder 3"/>
          <p:cNvSpPr>
            <a:spLocks noGrp="1"/>
          </p:cNvSpPr>
          <p:nvPr>
            <p:ph type="ftr" sz="quarter" idx="11"/>
          </p:nvPr>
        </p:nvSpPr>
        <p:spPr/>
        <p:txBody>
          <a:bodyPr/>
          <a:lstStyle/>
          <a:p>
            <a:endParaRPr lang="en-AT"/>
          </a:p>
        </p:txBody>
      </p:sp>
      <p:sp>
        <p:nvSpPr>
          <p:cNvPr id="5" name="Slide Number Placeholder 4"/>
          <p:cNvSpPr>
            <a:spLocks noGrp="1"/>
          </p:cNvSpPr>
          <p:nvPr>
            <p:ph type="sldNum" sz="quarter" idx="12"/>
          </p:nvPr>
        </p:nvSpPr>
        <p:spPr/>
        <p:txBody>
          <a:bodyPr/>
          <a:lstStyle/>
          <a:p>
            <a:fld id="{375412C1-EA93-4E4A-85FD-7A5708466472}" type="slidenum">
              <a:rPr lang="en-AT" smtClean="0"/>
              <a:t>‹#›</a:t>
            </a:fld>
            <a:endParaRPr lang="en-AT"/>
          </a:p>
        </p:txBody>
      </p:sp>
    </p:spTree>
    <p:extLst>
      <p:ext uri="{BB962C8B-B14F-4D97-AF65-F5344CB8AC3E}">
        <p14:creationId xmlns:p14="http://schemas.microsoft.com/office/powerpoint/2010/main" val="37818202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DC445F3-573B-4B21-AB69-A34CE8BA8366}" type="datetimeFigureOut">
              <a:rPr lang="en-AT" smtClean="0"/>
              <a:t>15/01/2026</a:t>
            </a:fld>
            <a:endParaRPr lang="en-AT"/>
          </a:p>
        </p:txBody>
      </p:sp>
      <p:sp>
        <p:nvSpPr>
          <p:cNvPr id="3" name="Footer Placeholder 2"/>
          <p:cNvSpPr>
            <a:spLocks noGrp="1"/>
          </p:cNvSpPr>
          <p:nvPr>
            <p:ph type="ftr" sz="quarter" idx="11"/>
          </p:nvPr>
        </p:nvSpPr>
        <p:spPr/>
        <p:txBody>
          <a:bodyPr/>
          <a:lstStyle/>
          <a:p>
            <a:endParaRPr lang="en-AT"/>
          </a:p>
        </p:txBody>
      </p:sp>
      <p:sp>
        <p:nvSpPr>
          <p:cNvPr id="4" name="Slide Number Placeholder 3"/>
          <p:cNvSpPr>
            <a:spLocks noGrp="1"/>
          </p:cNvSpPr>
          <p:nvPr>
            <p:ph type="sldNum" sz="quarter" idx="12"/>
          </p:nvPr>
        </p:nvSpPr>
        <p:spPr/>
        <p:txBody>
          <a:bodyPr/>
          <a:lstStyle/>
          <a:p>
            <a:fld id="{375412C1-EA93-4E4A-85FD-7A5708466472}" type="slidenum">
              <a:rPr lang="en-AT" smtClean="0"/>
              <a:t>‹#›</a:t>
            </a:fld>
            <a:endParaRPr lang="en-AT"/>
          </a:p>
        </p:txBody>
      </p:sp>
    </p:spTree>
    <p:extLst>
      <p:ext uri="{BB962C8B-B14F-4D97-AF65-F5344CB8AC3E}">
        <p14:creationId xmlns:p14="http://schemas.microsoft.com/office/powerpoint/2010/main" val="39501847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3000" y="1097280"/>
            <a:ext cx="3931920" cy="1737360"/>
          </a:xfrm>
        </p:spPr>
        <p:txBody>
          <a:bodyPr anchor="b">
            <a:noAutofit/>
          </a:bodyPr>
          <a:lstStyle>
            <a:lvl1pPr>
              <a:lnSpc>
                <a:spcPct val="90000"/>
              </a:lnSpc>
              <a:defRPr sz="4000" b="0"/>
            </a:lvl1pPr>
          </a:lstStyle>
          <a:p>
            <a:r>
              <a:rPr lang="en-US"/>
              <a:t>Click to edit Master title style</a:t>
            </a:r>
            <a:endParaRPr lang="en-US" dirty="0"/>
          </a:p>
        </p:txBody>
      </p:sp>
      <p:sp>
        <p:nvSpPr>
          <p:cNvPr id="3" name="Content Placeholder 2"/>
          <p:cNvSpPr>
            <a:spLocks noGrp="1"/>
          </p:cNvSpPr>
          <p:nvPr>
            <p:ph idx="1"/>
          </p:nvPr>
        </p:nvSpPr>
        <p:spPr>
          <a:xfrm>
            <a:off x="5852159" y="1097280"/>
            <a:ext cx="5212080" cy="466344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43000" y="2834640"/>
            <a:ext cx="3931920" cy="3017520"/>
          </a:xfrm>
        </p:spPr>
        <p:txBody>
          <a:bodyPr>
            <a:normAutofit/>
          </a:bodyPr>
          <a:lstStyle>
            <a:lvl1pPr marL="0" indent="0">
              <a:lnSpc>
                <a:spcPct val="100000"/>
              </a:lnSpc>
              <a:spcBef>
                <a:spcPts val="1000"/>
              </a:spcBef>
              <a:buNone/>
              <a:defRPr sz="17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DC445F3-573B-4B21-AB69-A34CE8BA8366}" type="datetimeFigureOut">
              <a:rPr lang="en-AT" smtClean="0"/>
              <a:t>15/01/2026</a:t>
            </a:fld>
            <a:endParaRPr lang="en-AT"/>
          </a:p>
        </p:txBody>
      </p:sp>
      <p:sp>
        <p:nvSpPr>
          <p:cNvPr id="6" name="Footer Placeholder 5"/>
          <p:cNvSpPr>
            <a:spLocks noGrp="1"/>
          </p:cNvSpPr>
          <p:nvPr>
            <p:ph type="ftr" sz="quarter" idx="11"/>
          </p:nvPr>
        </p:nvSpPr>
        <p:spPr/>
        <p:txBody>
          <a:bodyPr/>
          <a:lstStyle/>
          <a:p>
            <a:endParaRPr lang="en-AT"/>
          </a:p>
        </p:txBody>
      </p:sp>
      <p:sp>
        <p:nvSpPr>
          <p:cNvPr id="7" name="Slide Number Placeholder 6"/>
          <p:cNvSpPr>
            <a:spLocks noGrp="1"/>
          </p:cNvSpPr>
          <p:nvPr>
            <p:ph type="sldNum" sz="quarter" idx="12"/>
          </p:nvPr>
        </p:nvSpPr>
        <p:spPr/>
        <p:txBody>
          <a:bodyPr/>
          <a:lstStyle/>
          <a:p>
            <a:fld id="{375412C1-EA93-4E4A-85FD-7A5708466472}" type="slidenum">
              <a:rPr lang="en-AT" smtClean="0"/>
              <a:t>‹#›</a:t>
            </a:fld>
            <a:endParaRPr lang="en-AT"/>
          </a:p>
        </p:txBody>
      </p:sp>
    </p:spTree>
    <p:extLst>
      <p:ext uri="{BB962C8B-B14F-4D97-AF65-F5344CB8AC3E}">
        <p14:creationId xmlns:p14="http://schemas.microsoft.com/office/powerpoint/2010/main" val="25377180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3000" y="1097280"/>
            <a:ext cx="3931920" cy="1737360"/>
          </a:xfrm>
        </p:spPr>
        <p:txBody>
          <a:bodyPr anchor="b">
            <a:noAutofit/>
          </a:bodyPr>
          <a:lstStyle>
            <a:lvl1pPr>
              <a:lnSpc>
                <a:spcPct val="90000"/>
              </a:lnSpc>
              <a:defRPr sz="40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5413248" y="1069847"/>
            <a:ext cx="6099048" cy="4800600"/>
          </a:xfrm>
        </p:spPr>
        <p:txBody>
          <a:bodyPr lIns="274320" tIns="182880" anchor="t">
            <a:normAutofit/>
          </a:bodyPr>
          <a:lstStyle>
            <a:lvl1pPr marL="0" indent="0">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43000" y="2834640"/>
            <a:ext cx="3931920" cy="2880360"/>
          </a:xfrm>
        </p:spPr>
        <p:txBody>
          <a:bodyPr>
            <a:normAutofit/>
          </a:bodyPr>
          <a:lstStyle>
            <a:lvl1pPr marL="0" indent="0">
              <a:lnSpc>
                <a:spcPct val="100000"/>
              </a:lnSpc>
              <a:spcBef>
                <a:spcPts val="1000"/>
              </a:spcBef>
              <a:buNone/>
              <a:defRPr sz="17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DC445F3-573B-4B21-AB69-A34CE8BA8366}" type="datetimeFigureOut">
              <a:rPr lang="en-AT" smtClean="0"/>
              <a:t>15/01/2026</a:t>
            </a:fld>
            <a:endParaRPr lang="en-AT"/>
          </a:p>
        </p:txBody>
      </p:sp>
      <p:sp>
        <p:nvSpPr>
          <p:cNvPr id="6" name="Footer Placeholder 5"/>
          <p:cNvSpPr>
            <a:spLocks noGrp="1"/>
          </p:cNvSpPr>
          <p:nvPr>
            <p:ph type="ftr" sz="quarter" idx="11"/>
          </p:nvPr>
        </p:nvSpPr>
        <p:spPr/>
        <p:txBody>
          <a:bodyPr/>
          <a:lstStyle/>
          <a:p>
            <a:endParaRPr lang="en-AT"/>
          </a:p>
        </p:txBody>
      </p:sp>
      <p:sp>
        <p:nvSpPr>
          <p:cNvPr id="7" name="Slide Number Placeholder 6"/>
          <p:cNvSpPr>
            <a:spLocks noGrp="1"/>
          </p:cNvSpPr>
          <p:nvPr>
            <p:ph type="sldNum" sz="quarter" idx="12"/>
          </p:nvPr>
        </p:nvSpPr>
        <p:spPr/>
        <p:txBody>
          <a:bodyPr/>
          <a:lstStyle/>
          <a:p>
            <a:fld id="{375412C1-EA93-4E4A-85FD-7A5708466472}" type="slidenum">
              <a:rPr lang="en-AT" smtClean="0"/>
              <a:t>‹#›</a:t>
            </a:fld>
            <a:endParaRPr lang="en-AT"/>
          </a:p>
        </p:txBody>
      </p:sp>
    </p:spTree>
    <p:extLst>
      <p:ext uri="{BB962C8B-B14F-4D97-AF65-F5344CB8AC3E}">
        <p14:creationId xmlns:p14="http://schemas.microsoft.com/office/powerpoint/2010/main" val="4119842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DC445F3-573B-4B21-AB69-A34CE8BA8366}" type="datetimeFigureOut">
              <a:rPr lang="en-AT" smtClean="0"/>
              <a:t>15/01/2026</a:t>
            </a:fld>
            <a:endParaRPr lang="en-AT"/>
          </a:p>
        </p:txBody>
      </p:sp>
      <p:sp>
        <p:nvSpPr>
          <p:cNvPr id="5" name="Footer Placeholder 4"/>
          <p:cNvSpPr>
            <a:spLocks noGrp="1"/>
          </p:cNvSpPr>
          <p:nvPr>
            <p:ph type="ftr" sz="quarter" idx="11"/>
          </p:nvPr>
        </p:nvSpPr>
        <p:spPr/>
        <p:txBody>
          <a:bodyPr/>
          <a:lstStyle/>
          <a:p>
            <a:endParaRPr lang="en-AT"/>
          </a:p>
        </p:txBody>
      </p:sp>
      <p:sp>
        <p:nvSpPr>
          <p:cNvPr id="6" name="Slide Number Placeholder 5"/>
          <p:cNvSpPr>
            <a:spLocks noGrp="1"/>
          </p:cNvSpPr>
          <p:nvPr>
            <p:ph type="sldNum" sz="quarter" idx="12"/>
          </p:nvPr>
        </p:nvSpPr>
        <p:spPr/>
        <p:txBody>
          <a:bodyPr/>
          <a:lstStyle/>
          <a:p>
            <a:fld id="{375412C1-EA93-4E4A-85FD-7A5708466472}" type="slidenum">
              <a:rPr lang="en-AT" smtClean="0"/>
              <a:t>‹#›</a:t>
            </a:fld>
            <a:endParaRPr lang="en-AT"/>
          </a:p>
        </p:txBody>
      </p:sp>
    </p:spTree>
    <p:extLst>
      <p:ext uri="{BB962C8B-B14F-4D97-AF65-F5344CB8AC3E}">
        <p14:creationId xmlns:p14="http://schemas.microsoft.com/office/powerpoint/2010/main" val="24239296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762000"/>
            <a:ext cx="2324100" cy="54102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43000" y="762000"/>
            <a:ext cx="7429500" cy="5410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DC445F3-573B-4B21-AB69-A34CE8BA8366}" type="datetimeFigureOut">
              <a:rPr lang="en-AT" smtClean="0"/>
              <a:t>15/01/2026</a:t>
            </a:fld>
            <a:endParaRPr lang="en-AT"/>
          </a:p>
        </p:txBody>
      </p:sp>
      <p:sp>
        <p:nvSpPr>
          <p:cNvPr id="5" name="Footer Placeholder 4"/>
          <p:cNvSpPr>
            <a:spLocks noGrp="1"/>
          </p:cNvSpPr>
          <p:nvPr>
            <p:ph type="ftr" sz="quarter" idx="11"/>
          </p:nvPr>
        </p:nvSpPr>
        <p:spPr/>
        <p:txBody>
          <a:bodyPr/>
          <a:lstStyle/>
          <a:p>
            <a:endParaRPr lang="en-AT"/>
          </a:p>
        </p:txBody>
      </p:sp>
      <p:sp>
        <p:nvSpPr>
          <p:cNvPr id="6" name="Slide Number Placeholder 5"/>
          <p:cNvSpPr>
            <a:spLocks noGrp="1"/>
          </p:cNvSpPr>
          <p:nvPr>
            <p:ph type="sldNum" sz="quarter" idx="12"/>
          </p:nvPr>
        </p:nvSpPr>
        <p:spPr/>
        <p:txBody>
          <a:bodyPr/>
          <a:lstStyle/>
          <a:p>
            <a:fld id="{375412C1-EA93-4E4A-85FD-7A5708466472}" type="slidenum">
              <a:rPr lang="en-AT" smtClean="0"/>
              <a:t>‹#›</a:t>
            </a:fld>
            <a:endParaRPr lang="en-AT"/>
          </a:p>
        </p:txBody>
      </p:sp>
    </p:spTree>
    <p:extLst>
      <p:ext uri="{BB962C8B-B14F-4D97-AF65-F5344CB8AC3E}">
        <p14:creationId xmlns:p14="http://schemas.microsoft.com/office/powerpoint/2010/main" val="247317044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7" name="Rectangle 6"/>
          <p:cNvSpPr>
            <a:spLocks noChangeAspect="1"/>
          </p:cNvSpPr>
          <p:nvPr/>
        </p:nvSpPr>
        <p:spPr>
          <a:xfrm>
            <a:off x="231140" y="243840"/>
            <a:ext cx="11724640" cy="6377939"/>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143000" y="609600"/>
            <a:ext cx="9875520" cy="135636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143000" y="2057400"/>
            <a:ext cx="9872871" cy="40386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142996" y="6223828"/>
            <a:ext cx="2329074" cy="365125"/>
          </a:xfrm>
          <a:prstGeom prst="rect">
            <a:avLst/>
          </a:prstGeom>
        </p:spPr>
        <p:txBody>
          <a:bodyPr vert="horz" lIns="91440" tIns="45720" rIns="91440" bIns="45720" rtlCol="0" anchor="ctr"/>
          <a:lstStyle>
            <a:lvl1pPr algn="l">
              <a:defRPr sz="1200">
                <a:solidFill>
                  <a:schemeClr val="accent1"/>
                </a:solidFill>
              </a:defRPr>
            </a:lvl1pPr>
          </a:lstStyle>
          <a:p>
            <a:fld id="{EDC445F3-573B-4B21-AB69-A34CE8BA8366}" type="datetimeFigureOut">
              <a:rPr lang="en-AT" smtClean="0"/>
              <a:t>15/01/2026</a:t>
            </a:fld>
            <a:endParaRPr lang="en-AT"/>
          </a:p>
        </p:txBody>
      </p:sp>
      <p:sp>
        <p:nvSpPr>
          <p:cNvPr id="5" name="Footer Placeholder 4"/>
          <p:cNvSpPr>
            <a:spLocks noGrp="1"/>
          </p:cNvSpPr>
          <p:nvPr>
            <p:ph type="ftr" sz="quarter" idx="3"/>
          </p:nvPr>
        </p:nvSpPr>
        <p:spPr>
          <a:xfrm>
            <a:off x="3949148" y="6223828"/>
            <a:ext cx="4717774" cy="365125"/>
          </a:xfrm>
          <a:prstGeom prst="rect">
            <a:avLst/>
          </a:prstGeom>
        </p:spPr>
        <p:txBody>
          <a:bodyPr vert="horz" lIns="91440" tIns="45720" rIns="91440" bIns="45720" rtlCol="0" anchor="ctr"/>
          <a:lstStyle>
            <a:lvl1pPr algn="ctr">
              <a:defRPr sz="1200">
                <a:solidFill>
                  <a:schemeClr val="accent1"/>
                </a:solidFill>
              </a:defRPr>
            </a:lvl1pPr>
          </a:lstStyle>
          <a:p>
            <a:endParaRPr lang="en-AT"/>
          </a:p>
        </p:txBody>
      </p:sp>
      <p:sp>
        <p:nvSpPr>
          <p:cNvPr id="6" name="Slide Number Placeholder 5"/>
          <p:cNvSpPr>
            <a:spLocks noGrp="1"/>
          </p:cNvSpPr>
          <p:nvPr>
            <p:ph type="sldNum" sz="quarter" idx="4"/>
          </p:nvPr>
        </p:nvSpPr>
        <p:spPr>
          <a:xfrm>
            <a:off x="9329530" y="6223828"/>
            <a:ext cx="1706217" cy="365125"/>
          </a:xfrm>
          <a:prstGeom prst="rect">
            <a:avLst/>
          </a:prstGeom>
        </p:spPr>
        <p:txBody>
          <a:bodyPr vert="horz" lIns="91440" tIns="45720" rIns="91440" bIns="45720" rtlCol="0" anchor="ctr"/>
          <a:lstStyle>
            <a:lvl1pPr algn="r">
              <a:defRPr sz="1200">
                <a:solidFill>
                  <a:schemeClr val="accent1"/>
                </a:solidFill>
              </a:defRPr>
            </a:lvl1pPr>
          </a:lstStyle>
          <a:p>
            <a:fld id="{375412C1-EA93-4E4A-85FD-7A5708466472}" type="slidenum">
              <a:rPr lang="en-AT" smtClean="0"/>
              <a:t>‹#›</a:t>
            </a:fld>
            <a:endParaRPr lang="en-AT"/>
          </a:p>
        </p:txBody>
      </p:sp>
    </p:spTree>
    <p:extLst>
      <p:ext uri="{BB962C8B-B14F-4D97-AF65-F5344CB8AC3E}">
        <p14:creationId xmlns:p14="http://schemas.microsoft.com/office/powerpoint/2010/main" val="226061267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accent1"/>
          </a:solidFill>
          <a:latin typeface="+mj-lt"/>
          <a:ea typeface="+mj-ea"/>
          <a:cs typeface="+mj-cs"/>
        </a:defRPr>
      </a:lvl1pPr>
    </p:titleStyle>
    <p:bodyStyle>
      <a:lvl1pPr marL="228600" indent="-182880" algn="l" defTabSz="914400" rtl="0" eaLnBrk="1" latinLnBrk="0" hangingPunct="1">
        <a:lnSpc>
          <a:spcPct val="90000"/>
        </a:lnSpc>
        <a:spcBef>
          <a:spcPts val="1400"/>
        </a:spcBef>
        <a:buClr>
          <a:schemeClr val="accent1"/>
        </a:buClr>
        <a:buSzPct val="80000"/>
        <a:buFont typeface="Corbel" pitchFamily="34" charset="0"/>
        <a:buChar char="•"/>
        <a:defRPr sz="2200" kern="1200">
          <a:solidFill>
            <a:schemeClr val="accent1"/>
          </a:solidFill>
          <a:latin typeface="+mn-lt"/>
          <a:ea typeface="+mn-ea"/>
          <a:cs typeface="+mn-cs"/>
        </a:defRPr>
      </a:lvl1pPr>
      <a:lvl2pPr marL="457200" indent="-182880" algn="l" defTabSz="914400" rtl="0" eaLnBrk="1" latinLnBrk="0" hangingPunct="1">
        <a:lnSpc>
          <a:spcPct val="90000"/>
        </a:lnSpc>
        <a:spcBef>
          <a:spcPts val="200"/>
        </a:spcBef>
        <a:spcAft>
          <a:spcPts val="400"/>
        </a:spcAft>
        <a:buClr>
          <a:schemeClr val="accent1"/>
        </a:buClr>
        <a:buSzPct val="80000"/>
        <a:buFont typeface="Corbel" pitchFamily="34" charset="0"/>
        <a:buChar char="•"/>
        <a:defRPr sz="2000" kern="1200">
          <a:solidFill>
            <a:schemeClr val="accent1"/>
          </a:solidFill>
          <a:latin typeface="+mn-lt"/>
          <a:ea typeface="+mn-ea"/>
          <a:cs typeface="+mn-cs"/>
        </a:defRPr>
      </a:lvl2pPr>
      <a:lvl3pPr marL="731520" indent="-18288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800" kern="1200">
          <a:solidFill>
            <a:schemeClr val="accent1"/>
          </a:solidFill>
          <a:latin typeface="+mn-lt"/>
          <a:ea typeface="+mn-ea"/>
          <a:cs typeface="+mn-cs"/>
        </a:defRPr>
      </a:lvl3pPr>
      <a:lvl4pPr marL="1005840" indent="-18288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4pPr>
      <a:lvl5pPr marL="1280160" indent="-18288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5pPr>
      <a:lvl6pPr marL="1600000" indent="-22860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6pPr>
      <a:lvl7pPr marL="1900000" indent="-22860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7pPr>
      <a:lvl8pPr marL="2200000" indent="-22860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8pPr>
      <a:lvl9pPr marL="2500000" indent="-22860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7.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7.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B365B3-C8ED-6AF4-2207-613049FEF80F}"/>
              </a:ext>
            </a:extLst>
          </p:cNvPr>
          <p:cNvSpPr>
            <a:spLocks noGrp="1"/>
          </p:cNvSpPr>
          <p:nvPr>
            <p:ph type="ctrTitle"/>
          </p:nvPr>
        </p:nvSpPr>
        <p:spPr>
          <a:xfrm>
            <a:off x="1524000" y="1122363"/>
            <a:ext cx="9144000" cy="1163637"/>
          </a:xfrm>
          <a:effectLst>
            <a:outerShdw blurRad="50800" dist="38100" dir="5400000" algn="t" rotWithShape="0">
              <a:prstClr val="black">
                <a:alpha val="40000"/>
              </a:prstClr>
            </a:outerShdw>
          </a:effectLst>
        </p:spPr>
        <p:txBody>
          <a:bodyPr>
            <a:normAutofit/>
          </a:bodyPr>
          <a:lstStyle/>
          <a:p>
            <a:r>
              <a:rPr lang="en-US" sz="4000" b="1"/>
              <a:t>Project Title</a:t>
            </a:r>
            <a:br>
              <a:rPr lang="en-US" sz="4000" b="1"/>
            </a:br>
            <a:endParaRPr lang="en-AT" sz="4000" dirty="0"/>
          </a:p>
        </p:txBody>
      </p:sp>
      <p:sp>
        <p:nvSpPr>
          <p:cNvPr id="3" name="Subtitle 2">
            <a:extLst>
              <a:ext uri="{FF2B5EF4-FFF2-40B4-BE49-F238E27FC236}">
                <a16:creationId xmlns:a16="http://schemas.microsoft.com/office/drawing/2014/main" id="{06966E20-840F-8E9B-A585-C9826141EE6C}"/>
              </a:ext>
            </a:extLst>
          </p:cNvPr>
          <p:cNvSpPr>
            <a:spLocks noGrp="1"/>
          </p:cNvSpPr>
          <p:nvPr>
            <p:ph type="subTitle" idx="1"/>
          </p:nvPr>
        </p:nvSpPr>
        <p:spPr>
          <a:solidFill>
            <a:schemeClr val="accent2">
              <a:lumMod val="20000"/>
              <a:lumOff val="80000"/>
            </a:schemeClr>
          </a:solidFill>
          <a:ln>
            <a:solidFill>
              <a:schemeClr val="accent2">
                <a:lumMod val="60000"/>
                <a:lumOff val="40000"/>
              </a:schemeClr>
            </a:solidFill>
          </a:ln>
          <a:effectLst>
            <a:outerShdw blurRad="76200" dir="13500000" sy="23000" kx="1200000" algn="br" rotWithShape="0">
              <a:prstClr val="black">
                <a:alpha val="20000"/>
              </a:prstClr>
            </a:outerShdw>
            <a:reflection blurRad="6350" stA="50000" endA="300" endPos="55000" dir="5400000" sy="-100000" algn="bl" rotWithShape="0"/>
            <a:softEdge rad="12700"/>
          </a:effectLst>
        </p:spPr>
        <p:style>
          <a:lnRef idx="2">
            <a:schemeClr val="dk1"/>
          </a:lnRef>
          <a:fillRef idx="1">
            <a:schemeClr val="lt1"/>
          </a:fillRef>
          <a:effectRef idx="0">
            <a:schemeClr val="dk1"/>
          </a:effectRef>
          <a:fontRef idx="minor">
            <a:schemeClr val="dk1"/>
          </a:fontRef>
        </p:style>
        <p:txBody>
          <a:bodyPr/>
          <a:lstStyle/>
          <a:p>
            <a:endParaRPr lang="en-AT" b="1"/>
          </a:p>
          <a:p>
            <a:r>
              <a:rPr lang="en-GB" b="1"/>
              <a:t>Superstore Sales Analysis and Forecast</a:t>
            </a:r>
          </a:p>
          <a:p>
            <a:endParaRPr lang="en-AT" dirty="0"/>
          </a:p>
        </p:txBody>
      </p:sp>
      <p:pic>
        <p:nvPicPr>
          <p:cNvPr id="6" name="Picture 5">
            <a:extLst>
              <a:ext uri="{FF2B5EF4-FFF2-40B4-BE49-F238E27FC236}">
                <a16:creationId xmlns:a16="http://schemas.microsoft.com/office/drawing/2014/main" id="{F2B03180-8CAF-2642-40E1-FAD1C370E23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9174" y="386489"/>
            <a:ext cx="9972675" cy="6085022"/>
          </a:xfrm>
          <a:prstGeom prst="rect">
            <a:avLst/>
          </a:prstGeom>
        </p:spPr>
      </p:pic>
    </p:spTree>
    <p:extLst>
      <p:ext uri="{BB962C8B-B14F-4D97-AF65-F5344CB8AC3E}">
        <p14:creationId xmlns:p14="http://schemas.microsoft.com/office/powerpoint/2010/main" val="30010853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3E18E64-E416-5183-9CA9-13A2C507764A}"/>
              </a:ext>
            </a:extLst>
          </p:cNvPr>
          <p:cNvSpPr txBox="1"/>
          <p:nvPr/>
        </p:nvSpPr>
        <p:spPr>
          <a:xfrm>
            <a:off x="2695575" y="272534"/>
            <a:ext cx="6096000" cy="830997"/>
          </a:xfrm>
          <a:prstGeom prst="rect">
            <a:avLst/>
          </a:prstGeom>
          <a:no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square">
            <a:spAutoFit/>
          </a:bodyPr>
          <a:lstStyle/>
          <a:p>
            <a:pPr algn="ctr"/>
            <a:r>
              <a:rPr lang="en-US" sz="4800" dirty="0"/>
              <a:t>Project Goal</a:t>
            </a:r>
            <a:endParaRPr lang="en-AT" sz="4800" dirty="0"/>
          </a:p>
        </p:txBody>
      </p:sp>
      <p:sp>
        <p:nvSpPr>
          <p:cNvPr id="7" name="TextBox 6">
            <a:extLst>
              <a:ext uri="{FF2B5EF4-FFF2-40B4-BE49-F238E27FC236}">
                <a16:creationId xmlns:a16="http://schemas.microsoft.com/office/drawing/2014/main" id="{3FA2D32D-50B6-4739-30C2-098C2D520B31}"/>
              </a:ext>
            </a:extLst>
          </p:cNvPr>
          <p:cNvSpPr txBox="1"/>
          <p:nvPr/>
        </p:nvSpPr>
        <p:spPr>
          <a:xfrm>
            <a:off x="600075" y="1997839"/>
            <a:ext cx="10239375" cy="3139321"/>
          </a:xfrm>
          <a:prstGeom prst="rect">
            <a:avLst/>
          </a:prstGeom>
          <a:scene3d>
            <a:camera prst="perspectiveFront"/>
            <a:lightRig rig="threePt" dir="t"/>
          </a:scene3d>
        </p:spPr>
        <p:style>
          <a:lnRef idx="0">
            <a:schemeClr val="accent2"/>
          </a:lnRef>
          <a:fillRef idx="3">
            <a:schemeClr val="accent2"/>
          </a:fillRef>
          <a:effectRef idx="3">
            <a:schemeClr val="accent2"/>
          </a:effectRef>
          <a:fontRef idx="minor">
            <a:schemeClr val="lt1"/>
          </a:fontRef>
        </p:style>
        <p:txBody>
          <a:bodyPr wrap="square">
            <a:spAutoFit/>
          </a:bodyPr>
          <a:lstStyle/>
          <a:p>
            <a:pPr>
              <a:buNone/>
            </a:pPr>
            <a:r>
              <a:rPr lang="en-GB" b="1" dirty="0">
                <a:solidFill>
                  <a:schemeClr val="tx1"/>
                </a:solidFill>
              </a:rPr>
              <a:t>The primary objective of this project is to </a:t>
            </a:r>
            <a:r>
              <a:rPr lang="en-GB" b="1" dirty="0" err="1">
                <a:solidFill>
                  <a:schemeClr val="tx1"/>
                </a:solidFill>
              </a:rPr>
              <a:t>analyze</a:t>
            </a:r>
            <a:r>
              <a:rPr lang="en-GB" b="1" dirty="0">
                <a:solidFill>
                  <a:schemeClr val="tx1"/>
                </a:solidFill>
              </a:rPr>
              <a:t> historical Superstore sales data (2018–2021) to:</a:t>
            </a:r>
            <a:endParaRPr lang="en-AT" b="1" dirty="0">
              <a:solidFill>
                <a:schemeClr val="tx1"/>
              </a:solidFill>
            </a:endParaRPr>
          </a:p>
          <a:p>
            <a:pPr>
              <a:buNone/>
            </a:pPr>
            <a:endParaRPr lang="en-GB" b="1" dirty="0">
              <a:solidFill>
                <a:schemeClr val="tx1"/>
              </a:solidFill>
            </a:endParaRPr>
          </a:p>
          <a:p>
            <a:pPr>
              <a:buFont typeface="Arial" panose="020B0604020202020204" pitchFamily="34" charset="0"/>
              <a:buChar char="•"/>
            </a:pPr>
            <a:r>
              <a:rPr lang="en-GB" b="1" dirty="0">
                <a:solidFill>
                  <a:schemeClr val="tx1"/>
                </a:solidFill>
              </a:rPr>
              <a:t>Understand overall business performance and growth trends</a:t>
            </a:r>
            <a:endParaRPr lang="en-AT" b="1" dirty="0">
              <a:solidFill>
                <a:schemeClr val="tx1"/>
              </a:solidFill>
            </a:endParaRPr>
          </a:p>
          <a:p>
            <a:endParaRPr lang="en-GB" b="1" dirty="0">
              <a:solidFill>
                <a:schemeClr val="tx1"/>
              </a:solidFill>
            </a:endParaRPr>
          </a:p>
          <a:p>
            <a:pPr>
              <a:buFont typeface="Arial" panose="020B0604020202020204" pitchFamily="34" charset="0"/>
              <a:buChar char="•"/>
            </a:pPr>
            <a:r>
              <a:rPr lang="en-GB" b="1" dirty="0">
                <a:solidFill>
                  <a:schemeClr val="tx1"/>
                </a:solidFill>
              </a:rPr>
              <a:t>Identify key sales drivers across time, region, customer, and product dimensions</a:t>
            </a:r>
            <a:endParaRPr lang="en-AT" b="1" dirty="0">
              <a:solidFill>
                <a:schemeClr val="tx1"/>
              </a:solidFill>
            </a:endParaRPr>
          </a:p>
          <a:p>
            <a:endParaRPr lang="en-GB" b="1" dirty="0">
              <a:solidFill>
                <a:schemeClr val="tx1"/>
              </a:solidFill>
            </a:endParaRPr>
          </a:p>
          <a:p>
            <a:pPr>
              <a:buFont typeface="Arial" panose="020B0604020202020204" pitchFamily="34" charset="0"/>
              <a:buChar char="•"/>
            </a:pPr>
            <a:r>
              <a:rPr lang="en-GB" b="1" dirty="0">
                <a:solidFill>
                  <a:schemeClr val="tx1"/>
                </a:solidFill>
              </a:rPr>
              <a:t>Detect loss-making products and optimization opportunities</a:t>
            </a:r>
            <a:endParaRPr lang="en-AT" b="1" dirty="0">
              <a:solidFill>
                <a:schemeClr val="tx1"/>
              </a:solidFill>
            </a:endParaRPr>
          </a:p>
          <a:p>
            <a:endParaRPr lang="en-GB" b="1" dirty="0">
              <a:solidFill>
                <a:schemeClr val="tx1"/>
              </a:solidFill>
            </a:endParaRPr>
          </a:p>
          <a:p>
            <a:pPr>
              <a:buFont typeface="Arial" panose="020B0604020202020204" pitchFamily="34" charset="0"/>
              <a:buChar char="•"/>
            </a:pPr>
            <a:r>
              <a:rPr lang="en-GB" b="1" dirty="0">
                <a:solidFill>
                  <a:schemeClr val="tx1"/>
                </a:solidFill>
              </a:rPr>
              <a:t>Forecast next year’s sales using data-driven methods</a:t>
            </a:r>
            <a:endParaRPr lang="en-AT" b="1" dirty="0">
              <a:solidFill>
                <a:schemeClr val="tx1"/>
              </a:solidFill>
            </a:endParaRPr>
          </a:p>
          <a:p>
            <a:endParaRPr lang="en-GB" b="1" dirty="0">
              <a:solidFill>
                <a:schemeClr val="tx1"/>
              </a:solidFill>
            </a:endParaRPr>
          </a:p>
          <a:p>
            <a:pPr>
              <a:buFont typeface="Arial" panose="020B0604020202020204" pitchFamily="34" charset="0"/>
              <a:buChar char="•"/>
            </a:pPr>
            <a:r>
              <a:rPr lang="en-GB" b="1" dirty="0">
                <a:solidFill>
                  <a:schemeClr val="tx1"/>
                </a:solidFill>
              </a:rPr>
              <a:t>Deliver actionable insights for strategic decision-</a:t>
            </a:r>
            <a:r>
              <a:rPr lang="en-GB" b="1" dirty="0" err="1">
                <a:solidFill>
                  <a:schemeClr val="tx1"/>
                </a:solidFill>
              </a:rPr>
              <a:t>makin</a:t>
            </a:r>
            <a:r>
              <a:rPr lang="en-AT" b="1" dirty="0">
                <a:solidFill>
                  <a:schemeClr val="tx1"/>
                </a:solidFill>
              </a:rPr>
              <a:t>g</a:t>
            </a:r>
            <a:endParaRPr lang="en-GB" b="1" dirty="0">
              <a:solidFill>
                <a:schemeClr val="tx1"/>
              </a:solidFill>
            </a:endParaRPr>
          </a:p>
        </p:txBody>
      </p:sp>
    </p:spTree>
    <p:extLst>
      <p:ext uri="{BB962C8B-B14F-4D97-AF65-F5344CB8AC3E}">
        <p14:creationId xmlns:p14="http://schemas.microsoft.com/office/powerpoint/2010/main" val="12858105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69AA6A9-97BB-00AA-6FB9-B3F8FA508E43}"/>
              </a:ext>
            </a:extLst>
          </p:cNvPr>
          <p:cNvSpPr txBox="1"/>
          <p:nvPr/>
        </p:nvSpPr>
        <p:spPr>
          <a:xfrm>
            <a:off x="2800350" y="28575"/>
            <a:ext cx="6096000" cy="707886"/>
          </a:xfrm>
          <a:prstGeom prst="rect">
            <a:avLst/>
          </a:prstGeom>
          <a:noFill/>
          <a:effectLst>
            <a:outerShdw blurRad="50800" dist="38100" dir="5400000" algn="t" rotWithShape="0">
              <a:prstClr val="black">
                <a:alpha val="40000"/>
              </a:prstClr>
            </a:outerShdw>
          </a:effectLst>
        </p:spPr>
        <p:txBody>
          <a:bodyPr wrap="square">
            <a:spAutoFit/>
          </a:bodyPr>
          <a:lstStyle/>
          <a:p>
            <a:pPr algn="ctr"/>
            <a:r>
              <a:rPr lang="en-US" sz="4000" b="1" dirty="0"/>
              <a:t>PESTEL Analysis</a:t>
            </a:r>
            <a:endParaRPr lang="en-AT" sz="4000" b="1" dirty="0"/>
          </a:p>
        </p:txBody>
      </p:sp>
      <p:sp>
        <p:nvSpPr>
          <p:cNvPr id="5" name="TextBox 4">
            <a:extLst>
              <a:ext uri="{FF2B5EF4-FFF2-40B4-BE49-F238E27FC236}">
                <a16:creationId xmlns:a16="http://schemas.microsoft.com/office/drawing/2014/main" id="{078A8D54-8CCE-F38B-1559-B2B6BC6F4357}"/>
              </a:ext>
            </a:extLst>
          </p:cNvPr>
          <p:cNvSpPr txBox="1"/>
          <p:nvPr/>
        </p:nvSpPr>
        <p:spPr>
          <a:xfrm>
            <a:off x="128587" y="1042511"/>
            <a:ext cx="5343525" cy="1354217"/>
          </a:xfrm>
          <a:prstGeom prst="rect">
            <a:avLst/>
          </a:prstGeom>
        </p:spPr>
        <p:style>
          <a:lnRef idx="1">
            <a:schemeClr val="accent2"/>
          </a:lnRef>
          <a:fillRef idx="2">
            <a:schemeClr val="accent2"/>
          </a:fillRef>
          <a:effectRef idx="1">
            <a:schemeClr val="accent2"/>
          </a:effectRef>
          <a:fontRef idx="minor">
            <a:schemeClr val="dk1"/>
          </a:fontRef>
        </p:style>
        <p:txBody>
          <a:bodyPr wrap="square">
            <a:spAutoFit/>
          </a:bodyPr>
          <a:lstStyle/>
          <a:p>
            <a:pPr>
              <a:buNone/>
            </a:pPr>
            <a:r>
              <a:rPr lang="en-GB" b="1" dirty="0"/>
              <a:t>Political</a:t>
            </a:r>
          </a:p>
          <a:p>
            <a:pPr>
              <a:buNone/>
            </a:pPr>
            <a:r>
              <a:rPr lang="en-GB" sz="1600" dirty="0"/>
              <a:t>Retail sales are influenced by regional tax structures, trade regulations, and interstate commerce policies.</a:t>
            </a:r>
            <a:br>
              <a:rPr lang="en-GB" sz="1600" dirty="0"/>
            </a:br>
            <a:r>
              <a:rPr lang="en-GB" sz="1600" dirty="0"/>
              <a:t>A stable political environment supports long-term operational planning and store expansion.</a:t>
            </a:r>
          </a:p>
        </p:txBody>
      </p:sp>
      <p:sp>
        <p:nvSpPr>
          <p:cNvPr id="9" name="TextBox 8">
            <a:extLst>
              <a:ext uri="{FF2B5EF4-FFF2-40B4-BE49-F238E27FC236}">
                <a16:creationId xmlns:a16="http://schemas.microsoft.com/office/drawing/2014/main" id="{AD6F22E1-C111-B7BD-4FEC-91E3B120D67C}"/>
              </a:ext>
            </a:extLst>
          </p:cNvPr>
          <p:cNvSpPr txBox="1"/>
          <p:nvPr/>
        </p:nvSpPr>
        <p:spPr>
          <a:xfrm>
            <a:off x="128587" y="2702778"/>
            <a:ext cx="5343525" cy="1600438"/>
          </a:xfrm>
          <a:prstGeom prst="rect">
            <a:avLst/>
          </a:prstGeom>
        </p:spPr>
        <p:style>
          <a:lnRef idx="1">
            <a:schemeClr val="accent2"/>
          </a:lnRef>
          <a:fillRef idx="2">
            <a:schemeClr val="accent2"/>
          </a:fillRef>
          <a:effectRef idx="1">
            <a:schemeClr val="accent2"/>
          </a:effectRef>
          <a:fontRef idx="minor">
            <a:schemeClr val="dk1"/>
          </a:fontRef>
        </p:style>
        <p:txBody>
          <a:bodyPr wrap="square">
            <a:spAutoFit/>
          </a:bodyPr>
          <a:lstStyle/>
          <a:p>
            <a:pPr>
              <a:buNone/>
            </a:pPr>
            <a:r>
              <a:rPr lang="en-GB" b="1" dirty="0"/>
              <a:t>Economic</a:t>
            </a:r>
          </a:p>
          <a:p>
            <a:pPr>
              <a:buNone/>
            </a:pPr>
            <a:r>
              <a:rPr lang="en-GB" sz="1600" dirty="0"/>
              <a:t>Macroeconomic factors such as inflation, consumer purchasing power, and economic recovery cycles directly impact sales volume.</a:t>
            </a:r>
            <a:br>
              <a:rPr lang="en-GB" sz="1600" dirty="0"/>
            </a:br>
            <a:r>
              <a:rPr lang="en-GB" sz="1600" dirty="0"/>
              <a:t>The observed post-2019 recovery suggests resilience and growth potential under stable economic conditions.</a:t>
            </a:r>
          </a:p>
        </p:txBody>
      </p:sp>
      <p:sp>
        <p:nvSpPr>
          <p:cNvPr id="11" name="TextBox 10">
            <a:extLst>
              <a:ext uri="{FF2B5EF4-FFF2-40B4-BE49-F238E27FC236}">
                <a16:creationId xmlns:a16="http://schemas.microsoft.com/office/drawing/2014/main" id="{7535B424-7B7A-A016-1B92-DCD35BD52D40}"/>
              </a:ext>
            </a:extLst>
          </p:cNvPr>
          <p:cNvSpPr txBox="1"/>
          <p:nvPr/>
        </p:nvSpPr>
        <p:spPr>
          <a:xfrm>
            <a:off x="128587" y="4542562"/>
            <a:ext cx="5343525" cy="1600438"/>
          </a:xfrm>
          <a:prstGeom prst="rect">
            <a:avLst/>
          </a:prstGeom>
        </p:spPr>
        <p:style>
          <a:lnRef idx="1">
            <a:schemeClr val="accent2"/>
          </a:lnRef>
          <a:fillRef idx="2">
            <a:schemeClr val="accent2"/>
          </a:fillRef>
          <a:effectRef idx="1">
            <a:schemeClr val="accent2"/>
          </a:effectRef>
          <a:fontRef idx="minor">
            <a:schemeClr val="dk1"/>
          </a:fontRef>
        </p:style>
        <p:txBody>
          <a:bodyPr wrap="square">
            <a:spAutoFit/>
          </a:bodyPr>
          <a:lstStyle/>
          <a:p>
            <a:pPr>
              <a:buNone/>
            </a:pPr>
            <a:r>
              <a:rPr lang="en-GB" b="1" dirty="0"/>
              <a:t>Social</a:t>
            </a:r>
          </a:p>
          <a:p>
            <a:pPr>
              <a:buNone/>
            </a:pPr>
            <a:r>
              <a:rPr lang="en-GB" sz="1600" dirty="0"/>
              <a:t>Changing consumer </a:t>
            </a:r>
            <a:r>
              <a:rPr lang="en-GB" sz="1600" dirty="0" err="1"/>
              <a:t>behavior</a:t>
            </a:r>
            <a:r>
              <a:rPr lang="en-GB" sz="1600" dirty="0"/>
              <a:t>, increased online purchasing, and demand for fast delivery affect product mix and sales strategy.</a:t>
            </a:r>
            <a:br>
              <a:rPr lang="en-GB" sz="1600" dirty="0"/>
            </a:br>
            <a:r>
              <a:rPr lang="en-GB" sz="1600" dirty="0"/>
              <a:t>A high proportion of repeat customers indicates strong brand loyalty and customer satisfaction.</a:t>
            </a:r>
          </a:p>
        </p:txBody>
      </p:sp>
      <p:sp>
        <p:nvSpPr>
          <p:cNvPr id="13" name="TextBox 12">
            <a:extLst>
              <a:ext uri="{FF2B5EF4-FFF2-40B4-BE49-F238E27FC236}">
                <a16:creationId xmlns:a16="http://schemas.microsoft.com/office/drawing/2014/main" id="{E34BA153-66FA-82A8-4991-7D7AE9321DFD}"/>
              </a:ext>
            </a:extLst>
          </p:cNvPr>
          <p:cNvSpPr txBox="1"/>
          <p:nvPr/>
        </p:nvSpPr>
        <p:spPr>
          <a:xfrm>
            <a:off x="5824537" y="1042511"/>
            <a:ext cx="6096000" cy="1354217"/>
          </a:xfrm>
          <a:prstGeom prst="rect">
            <a:avLst/>
          </a:prstGeom>
        </p:spPr>
        <p:style>
          <a:lnRef idx="1">
            <a:schemeClr val="accent2"/>
          </a:lnRef>
          <a:fillRef idx="2">
            <a:schemeClr val="accent2"/>
          </a:fillRef>
          <a:effectRef idx="1">
            <a:schemeClr val="accent2"/>
          </a:effectRef>
          <a:fontRef idx="minor">
            <a:schemeClr val="dk1"/>
          </a:fontRef>
        </p:style>
        <p:txBody>
          <a:bodyPr wrap="square">
            <a:spAutoFit/>
          </a:bodyPr>
          <a:lstStyle/>
          <a:p>
            <a:pPr>
              <a:buNone/>
            </a:pPr>
            <a:r>
              <a:rPr lang="en-GB" b="1" dirty="0"/>
              <a:t>Technological</a:t>
            </a:r>
          </a:p>
          <a:p>
            <a:pPr>
              <a:buNone/>
            </a:pPr>
            <a:r>
              <a:rPr lang="en-GB" sz="1600" dirty="0"/>
              <a:t>Advanced analytics and visualization tools enable real-time performance monitoring and forecasting.</a:t>
            </a:r>
            <a:br>
              <a:rPr lang="en-GB" sz="1600" dirty="0"/>
            </a:br>
            <a:r>
              <a:rPr lang="en-GB" sz="1600" dirty="0"/>
              <a:t>Data-driven decision-making improves pricing, inventory planning, and demand prediction.</a:t>
            </a:r>
          </a:p>
        </p:txBody>
      </p:sp>
      <p:sp>
        <p:nvSpPr>
          <p:cNvPr id="15" name="TextBox 14">
            <a:extLst>
              <a:ext uri="{FF2B5EF4-FFF2-40B4-BE49-F238E27FC236}">
                <a16:creationId xmlns:a16="http://schemas.microsoft.com/office/drawing/2014/main" id="{5D8C790D-81F5-644A-245D-BD97F36B6D68}"/>
              </a:ext>
            </a:extLst>
          </p:cNvPr>
          <p:cNvSpPr txBox="1"/>
          <p:nvPr/>
        </p:nvSpPr>
        <p:spPr>
          <a:xfrm>
            <a:off x="5824537" y="2825888"/>
            <a:ext cx="6096000" cy="1354217"/>
          </a:xfrm>
          <a:prstGeom prst="rect">
            <a:avLst/>
          </a:prstGeom>
        </p:spPr>
        <p:style>
          <a:lnRef idx="1">
            <a:schemeClr val="accent2"/>
          </a:lnRef>
          <a:fillRef idx="2">
            <a:schemeClr val="accent2"/>
          </a:fillRef>
          <a:effectRef idx="1">
            <a:schemeClr val="accent2"/>
          </a:effectRef>
          <a:fontRef idx="minor">
            <a:schemeClr val="dk1"/>
          </a:fontRef>
        </p:style>
        <p:txBody>
          <a:bodyPr wrap="square">
            <a:spAutoFit/>
          </a:bodyPr>
          <a:lstStyle/>
          <a:p>
            <a:pPr>
              <a:buNone/>
            </a:pPr>
            <a:r>
              <a:rPr lang="en-GB" b="1" dirty="0"/>
              <a:t>Environmental</a:t>
            </a:r>
          </a:p>
          <a:p>
            <a:pPr>
              <a:buNone/>
            </a:pPr>
            <a:r>
              <a:rPr lang="en-GB" sz="1600" dirty="0"/>
              <a:t>Growing awareness of sustainability impacts packaging, logistics, and supplier choices.</a:t>
            </a:r>
            <a:br>
              <a:rPr lang="en-GB" sz="1600" dirty="0"/>
            </a:br>
            <a:r>
              <a:rPr lang="en-GB" sz="1600" dirty="0"/>
              <a:t>Operational efficiency can reduce both environmental footprint and cost.</a:t>
            </a:r>
          </a:p>
        </p:txBody>
      </p:sp>
      <p:sp>
        <p:nvSpPr>
          <p:cNvPr id="17" name="TextBox 16">
            <a:extLst>
              <a:ext uri="{FF2B5EF4-FFF2-40B4-BE49-F238E27FC236}">
                <a16:creationId xmlns:a16="http://schemas.microsoft.com/office/drawing/2014/main" id="{1D087FF0-675B-B4F5-075B-159D188F9C5D}"/>
              </a:ext>
            </a:extLst>
          </p:cNvPr>
          <p:cNvSpPr txBox="1"/>
          <p:nvPr/>
        </p:nvSpPr>
        <p:spPr>
          <a:xfrm>
            <a:off x="5753100" y="4604117"/>
            <a:ext cx="6096000" cy="1354217"/>
          </a:xfrm>
          <a:prstGeom prst="rect">
            <a:avLst/>
          </a:prstGeom>
        </p:spPr>
        <p:style>
          <a:lnRef idx="1">
            <a:schemeClr val="accent2"/>
          </a:lnRef>
          <a:fillRef idx="2">
            <a:schemeClr val="accent2"/>
          </a:fillRef>
          <a:effectRef idx="1">
            <a:schemeClr val="accent2"/>
          </a:effectRef>
          <a:fontRef idx="minor">
            <a:schemeClr val="dk1"/>
          </a:fontRef>
        </p:style>
        <p:txBody>
          <a:bodyPr wrap="square">
            <a:spAutoFit/>
          </a:bodyPr>
          <a:lstStyle/>
          <a:p>
            <a:pPr>
              <a:buNone/>
            </a:pPr>
            <a:r>
              <a:rPr lang="en-GB" b="1" dirty="0"/>
              <a:t>Legal</a:t>
            </a:r>
          </a:p>
          <a:p>
            <a:pPr>
              <a:buNone/>
            </a:pPr>
            <a:r>
              <a:rPr lang="en-GB" sz="1600" dirty="0"/>
              <a:t>Compliance with consumer protection laws, pricing transparency, and return policies is essential.</a:t>
            </a:r>
            <a:br>
              <a:rPr lang="en-GB" sz="1600" dirty="0"/>
            </a:br>
            <a:r>
              <a:rPr lang="en-GB" sz="1600" dirty="0"/>
              <a:t>Accurate reporting and discount management reduce legal and reputational risks.</a:t>
            </a:r>
          </a:p>
        </p:txBody>
      </p:sp>
    </p:spTree>
    <p:extLst>
      <p:ext uri="{BB962C8B-B14F-4D97-AF65-F5344CB8AC3E}">
        <p14:creationId xmlns:p14="http://schemas.microsoft.com/office/powerpoint/2010/main" val="165050773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3A92A9B-89C7-FB25-EFBB-D15D3FDC8E2B}"/>
              </a:ext>
            </a:extLst>
          </p:cNvPr>
          <p:cNvPicPr>
            <a:picLocks noChangeAspect="1"/>
          </p:cNvPicPr>
          <p:nvPr/>
        </p:nvPicPr>
        <p:blipFill>
          <a:blip r:embed="rId2"/>
          <a:stretch>
            <a:fillRect/>
          </a:stretch>
        </p:blipFill>
        <p:spPr>
          <a:xfrm>
            <a:off x="892086" y="0"/>
            <a:ext cx="10407827" cy="6858000"/>
          </a:xfrm>
          <a:prstGeom prst="rect">
            <a:avLst/>
          </a:prstGeom>
        </p:spPr>
      </p:pic>
    </p:spTree>
    <p:extLst>
      <p:ext uri="{BB962C8B-B14F-4D97-AF65-F5344CB8AC3E}">
        <p14:creationId xmlns:p14="http://schemas.microsoft.com/office/powerpoint/2010/main" val="30517738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78D0829-4F66-7FF8-FA86-C85F607F2B8A}"/>
              </a:ext>
            </a:extLst>
          </p:cNvPr>
          <p:cNvPicPr>
            <a:picLocks noChangeAspect="1"/>
          </p:cNvPicPr>
          <p:nvPr/>
        </p:nvPicPr>
        <p:blipFill>
          <a:blip r:embed="rId2"/>
          <a:stretch>
            <a:fillRect/>
          </a:stretch>
        </p:blipFill>
        <p:spPr>
          <a:xfrm>
            <a:off x="0" y="1123568"/>
            <a:ext cx="8030696" cy="2734057"/>
          </a:xfrm>
          <a:prstGeom prst="rect">
            <a:avLst/>
          </a:prstGeom>
        </p:spPr>
      </p:pic>
      <p:pic>
        <p:nvPicPr>
          <p:cNvPr id="9" name="Picture 8">
            <a:extLst>
              <a:ext uri="{FF2B5EF4-FFF2-40B4-BE49-F238E27FC236}">
                <a16:creationId xmlns:a16="http://schemas.microsoft.com/office/drawing/2014/main" id="{ED0DB909-77B3-7A15-2A1D-8EDC29544CDF}"/>
              </a:ext>
            </a:extLst>
          </p:cNvPr>
          <p:cNvPicPr>
            <a:picLocks noChangeAspect="1"/>
          </p:cNvPicPr>
          <p:nvPr/>
        </p:nvPicPr>
        <p:blipFill>
          <a:blip r:embed="rId3"/>
          <a:stretch>
            <a:fillRect/>
          </a:stretch>
        </p:blipFill>
        <p:spPr>
          <a:xfrm>
            <a:off x="166326" y="4038600"/>
            <a:ext cx="4377099" cy="2734057"/>
          </a:xfrm>
          <a:prstGeom prst="rect">
            <a:avLst/>
          </a:prstGeom>
        </p:spPr>
      </p:pic>
      <p:pic>
        <p:nvPicPr>
          <p:cNvPr id="11" name="Picture 10">
            <a:extLst>
              <a:ext uri="{FF2B5EF4-FFF2-40B4-BE49-F238E27FC236}">
                <a16:creationId xmlns:a16="http://schemas.microsoft.com/office/drawing/2014/main" id="{285E2D59-F5BA-BB96-AF4D-3477CB03D1E0}"/>
              </a:ext>
            </a:extLst>
          </p:cNvPr>
          <p:cNvPicPr>
            <a:picLocks noChangeAspect="1"/>
          </p:cNvPicPr>
          <p:nvPr/>
        </p:nvPicPr>
        <p:blipFill>
          <a:blip r:embed="rId4"/>
          <a:stretch>
            <a:fillRect/>
          </a:stretch>
        </p:blipFill>
        <p:spPr>
          <a:xfrm>
            <a:off x="4809895" y="4057650"/>
            <a:ext cx="3296110" cy="2724530"/>
          </a:xfrm>
          <a:prstGeom prst="rect">
            <a:avLst/>
          </a:prstGeom>
        </p:spPr>
      </p:pic>
      <p:sp>
        <p:nvSpPr>
          <p:cNvPr id="13" name="TextBox 12">
            <a:extLst>
              <a:ext uri="{FF2B5EF4-FFF2-40B4-BE49-F238E27FC236}">
                <a16:creationId xmlns:a16="http://schemas.microsoft.com/office/drawing/2014/main" id="{6F477B2C-CD51-D03A-77AD-B80A8D0440B7}"/>
              </a:ext>
            </a:extLst>
          </p:cNvPr>
          <p:cNvSpPr txBox="1"/>
          <p:nvPr/>
        </p:nvSpPr>
        <p:spPr>
          <a:xfrm>
            <a:off x="4800600" y="75820"/>
            <a:ext cx="3038475" cy="369332"/>
          </a:xfrm>
          <a:prstGeom prst="rect">
            <a:avLst/>
          </a:prstGeom>
          <a:noFill/>
        </p:spPr>
        <p:txBody>
          <a:bodyPr wrap="square">
            <a:spAutoFit/>
          </a:bodyPr>
          <a:lstStyle/>
          <a:p>
            <a:r>
              <a:rPr lang="en-AT" b="1" dirty="0"/>
              <a:t>Executive overview</a:t>
            </a:r>
          </a:p>
        </p:txBody>
      </p:sp>
      <p:sp>
        <p:nvSpPr>
          <p:cNvPr id="15" name="TextBox 14">
            <a:extLst>
              <a:ext uri="{FF2B5EF4-FFF2-40B4-BE49-F238E27FC236}">
                <a16:creationId xmlns:a16="http://schemas.microsoft.com/office/drawing/2014/main" id="{436A0E95-AED8-00E0-E15A-84C1F1F00C4E}"/>
              </a:ext>
            </a:extLst>
          </p:cNvPr>
          <p:cNvSpPr txBox="1"/>
          <p:nvPr/>
        </p:nvSpPr>
        <p:spPr>
          <a:xfrm>
            <a:off x="8106005" y="181392"/>
            <a:ext cx="3847869" cy="4832092"/>
          </a:xfrm>
          <a:prstGeom prst="rect">
            <a:avLst/>
          </a:prstGeom>
        </p:spPr>
        <p:style>
          <a:lnRef idx="1">
            <a:schemeClr val="accent4"/>
          </a:lnRef>
          <a:fillRef idx="2">
            <a:schemeClr val="accent4"/>
          </a:fillRef>
          <a:effectRef idx="1">
            <a:schemeClr val="accent4"/>
          </a:effectRef>
          <a:fontRef idx="minor">
            <a:schemeClr val="dk1"/>
          </a:fontRef>
        </p:style>
        <p:txBody>
          <a:bodyPr wrap="square">
            <a:spAutoFit/>
          </a:bodyPr>
          <a:lstStyle/>
          <a:p>
            <a:pPr>
              <a:buNone/>
            </a:pPr>
            <a:r>
              <a:rPr lang="en-GB" sz="1400" dirty="0"/>
              <a:t>Business performance shows a strong recovery and growth trend.</a:t>
            </a:r>
            <a:br>
              <a:rPr lang="en-GB" sz="1400" dirty="0"/>
            </a:br>
            <a:endParaRPr lang="en-AT" sz="1400" dirty="0"/>
          </a:p>
          <a:p>
            <a:pPr>
              <a:buNone/>
            </a:pPr>
            <a:r>
              <a:rPr lang="en-GB" sz="1400" dirty="0"/>
              <a:t>Total sales reached 2.30M with a net profit of 286K, driven primarily by repeat customers (98%) and strong performance in the West and </a:t>
            </a:r>
            <a:endParaRPr lang="en-AT" sz="1400" dirty="0"/>
          </a:p>
          <a:p>
            <a:pPr>
              <a:buNone/>
            </a:pPr>
            <a:endParaRPr lang="en-AT" sz="1400" dirty="0"/>
          </a:p>
          <a:p>
            <a:pPr>
              <a:buNone/>
            </a:pPr>
            <a:r>
              <a:rPr lang="en-GB" sz="1400" dirty="0"/>
              <a:t>East regions.</a:t>
            </a:r>
          </a:p>
          <a:p>
            <a:pPr>
              <a:buNone/>
            </a:pPr>
            <a:r>
              <a:rPr lang="en-GB" sz="1400" dirty="0"/>
              <a:t>Sales declined in 2019 but recovered significantly in 2020 and peaked in 2021, indicating a resilient and scalable business model.</a:t>
            </a:r>
            <a:br>
              <a:rPr lang="en-GB" sz="1400" dirty="0"/>
            </a:br>
            <a:endParaRPr lang="en-AT" sz="1400" dirty="0"/>
          </a:p>
          <a:p>
            <a:pPr>
              <a:buNone/>
            </a:pPr>
            <a:r>
              <a:rPr lang="en-GB" sz="1400" dirty="0"/>
              <a:t>However, 301 products are loss-making, generating a total loss of 76.7K, highlighting the need for product and pricing optimization.</a:t>
            </a:r>
          </a:p>
          <a:p>
            <a:pPr>
              <a:buNone/>
            </a:pPr>
            <a:endParaRPr lang="en-AT" sz="1400" dirty="0"/>
          </a:p>
          <a:p>
            <a:pPr>
              <a:buNone/>
            </a:pPr>
            <a:r>
              <a:rPr lang="en-GB" sz="1400" dirty="0"/>
              <a:t>Overall, the business demonstrates solid growth potential, with clear opportunities to improve profitability by addressing underperforming products and focusing on high-performing regions.</a:t>
            </a:r>
          </a:p>
        </p:txBody>
      </p:sp>
    </p:spTree>
    <p:extLst>
      <p:ext uri="{BB962C8B-B14F-4D97-AF65-F5344CB8AC3E}">
        <p14:creationId xmlns:p14="http://schemas.microsoft.com/office/powerpoint/2010/main" val="30135603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FC591DA-EF2B-CB60-409C-214887E314F7}"/>
              </a:ext>
            </a:extLst>
          </p:cNvPr>
          <p:cNvPicPr>
            <a:picLocks noChangeAspect="1"/>
          </p:cNvPicPr>
          <p:nvPr/>
        </p:nvPicPr>
        <p:blipFill>
          <a:blip r:embed="rId3"/>
          <a:stretch>
            <a:fillRect/>
          </a:stretch>
        </p:blipFill>
        <p:spPr>
          <a:xfrm>
            <a:off x="113589" y="514350"/>
            <a:ext cx="8011236" cy="5574929"/>
          </a:xfrm>
          <a:prstGeom prst="rect">
            <a:avLst/>
          </a:prstGeom>
          <a:effectLst>
            <a:outerShdw blurRad="50800" dist="38100" dir="5400000" algn="t" rotWithShape="0">
              <a:prstClr val="black">
                <a:alpha val="40000"/>
              </a:prstClr>
            </a:outerShdw>
          </a:effectLst>
        </p:spPr>
      </p:pic>
      <p:sp>
        <p:nvSpPr>
          <p:cNvPr id="7" name="TextBox 6">
            <a:extLst>
              <a:ext uri="{FF2B5EF4-FFF2-40B4-BE49-F238E27FC236}">
                <a16:creationId xmlns:a16="http://schemas.microsoft.com/office/drawing/2014/main" id="{A66A4917-6B24-A0B4-F39A-58EEC372680C}"/>
              </a:ext>
            </a:extLst>
          </p:cNvPr>
          <p:cNvSpPr txBox="1"/>
          <p:nvPr/>
        </p:nvSpPr>
        <p:spPr>
          <a:xfrm>
            <a:off x="170739" y="41130"/>
            <a:ext cx="8011236" cy="369332"/>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AT" dirty="0"/>
              <a:t>Sales Performance</a:t>
            </a:r>
          </a:p>
        </p:txBody>
      </p:sp>
      <p:sp>
        <p:nvSpPr>
          <p:cNvPr id="9" name="TextBox 8">
            <a:extLst>
              <a:ext uri="{FF2B5EF4-FFF2-40B4-BE49-F238E27FC236}">
                <a16:creationId xmlns:a16="http://schemas.microsoft.com/office/drawing/2014/main" id="{327603EB-29D5-7DE5-B7D0-3974E8C4BF1F}"/>
              </a:ext>
            </a:extLst>
          </p:cNvPr>
          <p:cNvSpPr txBox="1"/>
          <p:nvPr/>
        </p:nvSpPr>
        <p:spPr>
          <a:xfrm>
            <a:off x="8220075" y="190500"/>
            <a:ext cx="3858336" cy="6340197"/>
          </a:xfrm>
          <a:prstGeom prst="rect">
            <a:avLst/>
          </a:prstGeom>
        </p:spPr>
        <p:style>
          <a:lnRef idx="1">
            <a:schemeClr val="accent4"/>
          </a:lnRef>
          <a:fillRef idx="2">
            <a:schemeClr val="accent4"/>
          </a:fillRef>
          <a:effectRef idx="1">
            <a:schemeClr val="accent4"/>
          </a:effectRef>
          <a:fontRef idx="minor">
            <a:schemeClr val="dk1"/>
          </a:fontRef>
        </p:style>
        <p:txBody>
          <a:bodyPr wrap="square">
            <a:spAutoFit/>
          </a:bodyPr>
          <a:lstStyle/>
          <a:p>
            <a:pPr>
              <a:buNone/>
            </a:pPr>
            <a:r>
              <a:rPr lang="en-GB" sz="1400" b="1" dirty="0"/>
              <a:t>Time-Based Sales Performance Overview</a:t>
            </a:r>
          </a:p>
          <a:p>
            <a:pPr>
              <a:buNone/>
            </a:pPr>
            <a:r>
              <a:rPr lang="en-GB" sz="1400" dirty="0"/>
              <a:t>This page provides a comprehensive time-based sales analysis, covering yearly, quarterly, monthly, and day-level performance to identify trends, seasonality, and demand patterns.</a:t>
            </a:r>
          </a:p>
          <a:p>
            <a:pPr>
              <a:buNone/>
            </a:pPr>
            <a:r>
              <a:rPr lang="en-GB" sz="1400" dirty="0"/>
              <a:t>At the year level, sales demonstrate a consistent upward trend, reflecting overall business growth and improved performance over time.</a:t>
            </a:r>
            <a:br>
              <a:rPr lang="en-GB" sz="1400" dirty="0"/>
            </a:br>
            <a:r>
              <a:rPr lang="en-GB" sz="1400" dirty="0"/>
              <a:t>Quarter-wise analysis highlights stronger results in the second half of the year, with Q4 emerging as the peak revenue period, driven by higher customer demand and seasonal buying </a:t>
            </a:r>
            <a:r>
              <a:rPr lang="en-GB" sz="1400" dirty="0" err="1"/>
              <a:t>behavior</a:t>
            </a:r>
            <a:r>
              <a:rPr lang="en-GB" sz="1400" dirty="0"/>
              <a:t>.</a:t>
            </a:r>
          </a:p>
          <a:p>
            <a:pPr>
              <a:buNone/>
            </a:pPr>
            <a:r>
              <a:rPr lang="en-GB" sz="1400" dirty="0"/>
              <a:t>On a monthly basis, sales remain relatively stable in mid-year but increase sharply toward October–December, indicating strong year-end momentum.</a:t>
            </a:r>
            <a:br>
              <a:rPr lang="en-GB" sz="1400" dirty="0"/>
            </a:br>
            <a:r>
              <a:rPr lang="en-GB" sz="1400" dirty="0"/>
              <a:t>Day-wise analysis reveals that sales are concentrated on weekdays, especially mid-week, suggesting that business demand is primarily driven by operational and corporate purchasing rather than weekend consumer activity.</a:t>
            </a:r>
          </a:p>
          <a:p>
            <a:pPr>
              <a:buNone/>
            </a:pPr>
            <a:r>
              <a:rPr lang="en-GB" sz="1400" dirty="0"/>
              <a:t>Overall, this time-based view enables stakeholders to optimize planning, promotions, and resource allocation by aligning strategies with high-performing periods and anticipating future demand patterns.</a:t>
            </a:r>
          </a:p>
        </p:txBody>
      </p:sp>
      <p:sp>
        <p:nvSpPr>
          <p:cNvPr id="11" name="TextBox 10">
            <a:extLst>
              <a:ext uri="{FF2B5EF4-FFF2-40B4-BE49-F238E27FC236}">
                <a16:creationId xmlns:a16="http://schemas.microsoft.com/office/drawing/2014/main" id="{DB3C11B5-725A-DB32-81F5-2536CC54839A}"/>
              </a:ext>
            </a:extLst>
          </p:cNvPr>
          <p:cNvSpPr txBox="1"/>
          <p:nvPr/>
        </p:nvSpPr>
        <p:spPr>
          <a:xfrm>
            <a:off x="-1" y="6211669"/>
            <a:ext cx="8220075" cy="323165"/>
          </a:xfrm>
          <a:prstGeom prst="rect">
            <a:avLst/>
          </a:prstGeom>
        </p:spPr>
        <p:style>
          <a:lnRef idx="0">
            <a:schemeClr val="dk1"/>
          </a:lnRef>
          <a:fillRef idx="3">
            <a:schemeClr val="dk1"/>
          </a:fillRef>
          <a:effectRef idx="3">
            <a:schemeClr val="dk1"/>
          </a:effectRef>
          <a:fontRef idx="minor">
            <a:schemeClr val="lt1"/>
          </a:fontRef>
        </p:style>
        <p:txBody>
          <a:bodyPr wrap="square">
            <a:spAutoFit/>
          </a:bodyPr>
          <a:lstStyle/>
          <a:p>
            <a:r>
              <a:rPr lang="en-AT" sz="1500" b="1" dirty="0"/>
              <a:t>          </a:t>
            </a:r>
            <a:r>
              <a:rPr lang="en-GB" sz="1500" dirty="0"/>
              <a:t>Sales growth is driven by strong Q4 seasonality and consistent weekday demand patterns.</a:t>
            </a:r>
            <a:endParaRPr lang="en-AT" sz="1500" dirty="0"/>
          </a:p>
        </p:txBody>
      </p:sp>
    </p:spTree>
    <p:extLst>
      <p:ext uri="{BB962C8B-B14F-4D97-AF65-F5344CB8AC3E}">
        <p14:creationId xmlns:p14="http://schemas.microsoft.com/office/powerpoint/2010/main" val="346599647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3A07358-175D-5033-E50B-AD4BA018DB86}"/>
              </a:ext>
            </a:extLst>
          </p:cNvPr>
          <p:cNvPicPr>
            <a:picLocks noChangeAspect="1"/>
          </p:cNvPicPr>
          <p:nvPr/>
        </p:nvPicPr>
        <p:blipFill>
          <a:blip r:embed="rId3"/>
          <a:stretch>
            <a:fillRect/>
          </a:stretch>
        </p:blipFill>
        <p:spPr>
          <a:xfrm>
            <a:off x="0" y="0"/>
            <a:ext cx="1219370" cy="3043465"/>
          </a:xfrm>
          <a:prstGeom prst="rect">
            <a:avLst/>
          </a:prstGeom>
        </p:spPr>
      </p:pic>
      <p:pic>
        <p:nvPicPr>
          <p:cNvPr id="5" name="Picture 4">
            <a:extLst>
              <a:ext uri="{FF2B5EF4-FFF2-40B4-BE49-F238E27FC236}">
                <a16:creationId xmlns:a16="http://schemas.microsoft.com/office/drawing/2014/main" id="{FC29B74C-5E02-8068-C991-B79719B5D7BE}"/>
              </a:ext>
            </a:extLst>
          </p:cNvPr>
          <p:cNvPicPr>
            <a:picLocks noChangeAspect="1"/>
          </p:cNvPicPr>
          <p:nvPr/>
        </p:nvPicPr>
        <p:blipFill>
          <a:blip r:embed="rId4"/>
          <a:stretch>
            <a:fillRect/>
          </a:stretch>
        </p:blipFill>
        <p:spPr>
          <a:xfrm>
            <a:off x="1219370" y="128362"/>
            <a:ext cx="2752555" cy="3043464"/>
          </a:xfrm>
          <a:prstGeom prst="rect">
            <a:avLst/>
          </a:prstGeom>
        </p:spPr>
      </p:pic>
      <p:pic>
        <p:nvPicPr>
          <p:cNvPr id="7" name="Picture 6">
            <a:extLst>
              <a:ext uri="{FF2B5EF4-FFF2-40B4-BE49-F238E27FC236}">
                <a16:creationId xmlns:a16="http://schemas.microsoft.com/office/drawing/2014/main" id="{BAAA0B9F-9B17-BEC5-6070-802E1D1A24F9}"/>
              </a:ext>
            </a:extLst>
          </p:cNvPr>
          <p:cNvPicPr>
            <a:picLocks noChangeAspect="1"/>
          </p:cNvPicPr>
          <p:nvPr/>
        </p:nvPicPr>
        <p:blipFill>
          <a:blip r:embed="rId5"/>
          <a:stretch>
            <a:fillRect/>
          </a:stretch>
        </p:blipFill>
        <p:spPr>
          <a:xfrm>
            <a:off x="29290" y="3300188"/>
            <a:ext cx="4181347" cy="3424462"/>
          </a:xfrm>
          <a:prstGeom prst="rect">
            <a:avLst/>
          </a:prstGeom>
          <a:ln/>
        </p:spPr>
        <p:style>
          <a:lnRef idx="1">
            <a:schemeClr val="accent4"/>
          </a:lnRef>
          <a:fillRef idx="2">
            <a:schemeClr val="accent4"/>
          </a:fillRef>
          <a:effectRef idx="1">
            <a:schemeClr val="accent4"/>
          </a:effectRef>
          <a:fontRef idx="minor">
            <a:schemeClr val="dk1"/>
          </a:fontRef>
        </p:style>
      </p:pic>
      <p:pic>
        <p:nvPicPr>
          <p:cNvPr id="9" name="Picture 8">
            <a:extLst>
              <a:ext uri="{FF2B5EF4-FFF2-40B4-BE49-F238E27FC236}">
                <a16:creationId xmlns:a16="http://schemas.microsoft.com/office/drawing/2014/main" id="{9E6DF3AE-EAF7-4A63-7BAE-C5D4BF8DBFF1}"/>
              </a:ext>
            </a:extLst>
          </p:cNvPr>
          <p:cNvPicPr>
            <a:picLocks noChangeAspect="1"/>
          </p:cNvPicPr>
          <p:nvPr/>
        </p:nvPicPr>
        <p:blipFill>
          <a:blip r:embed="rId6"/>
          <a:stretch>
            <a:fillRect/>
          </a:stretch>
        </p:blipFill>
        <p:spPr>
          <a:xfrm>
            <a:off x="4900209" y="231105"/>
            <a:ext cx="5763429" cy="2505425"/>
          </a:xfrm>
          <a:prstGeom prst="rect">
            <a:avLst/>
          </a:prstGeom>
        </p:spPr>
        <p:style>
          <a:lnRef idx="2">
            <a:schemeClr val="accent2"/>
          </a:lnRef>
          <a:fillRef idx="1">
            <a:schemeClr val="lt1"/>
          </a:fillRef>
          <a:effectRef idx="0">
            <a:schemeClr val="accent2"/>
          </a:effectRef>
          <a:fontRef idx="minor">
            <a:schemeClr val="dk1"/>
          </a:fontRef>
        </p:style>
      </p:pic>
      <p:pic>
        <p:nvPicPr>
          <p:cNvPr id="11" name="Picture 10">
            <a:extLst>
              <a:ext uri="{FF2B5EF4-FFF2-40B4-BE49-F238E27FC236}">
                <a16:creationId xmlns:a16="http://schemas.microsoft.com/office/drawing/2014/main" id="{3619A0F8-E0F8-BD24-0877-EA065BA29422}"/>
              </a:ext>
            </a:extLst>
          </p:cNvPr>
          <p:cNvPicPr>
            <a:picLocks noChangeAspect="1"/>
          </p:cNvPicPr>
          <p:nvPr/>
        </p:nvPicPr>
        <p:blipFill>
          <a:blip r:embed="rId7"/>
          <a:stretch>
            <a:fillRect/>
          </a:stretch>
        </p:blipFill>
        <p:spPr>
          <a:xfrm>
            <a:off x="4258263" y="5981596"/>
            <a:ext cx="5876338" cy="743054"/>
          </a:xfrm>
          <a:prstGeom prst="rect">
            <a:avLst/>
          </a:prstGeom>
        </p:spPr>
        <p:style>
          <a:lnRef idx="2">
            <a:schemeClr val="accent1"/>
          </a:lnRef>
          <a:fillRef idx="1">
            <a:schemeClr val="lt1"/>
          </a:fillRef>
          <a:effectRef idx="0">
            <a:schemeClr val="accent1"/>
          </a:effectRef>
          <a:fontRef idx="minor">
            <a:schemeClr val="dk1"/>
          </a:fontRef>
        </p:style>
      </p:pic>
      <p:sp>
        <p:nvSpPr>
          <p:cNvPr id="15" name="Rectangle 2">
            <a:extLst>
              <a:ext uri="{FF2B5EF4-FFF2-40B4-BE49-F238E27FC236}">
                <a16:creationId xmlns:a16="http://schemas.microsoft.com/office/drawing/2014/main" id="{392EF18F-3303-269D-A5D7-F051DA1EBC91}"/>
              </a:ext>
            </a:extLst>
          </p:cNvPr>
          <p:cNvSpPr>
            <a:spLocks noChangeArrowheads="1"/>
          </p:cNvSpPr>
          <p:nvPr/>
        </p:nvSpPr>
        <p:spPr bwMode="auto">
          <a:xfrm>
            <a:off x="5143668" y="2860353"/>
            <a:ext cx="4220793" cy="2893100"/>
          </a:xfrm>
          <a:prstGeom prst="rect">
            <a:avLst/>
          </a:prstGeom>
          <a:ln/>
        </p:spPr>
        <p:style>
          <a:lnRef idx="2">
            <a:schemeClr val="accent4"/>
          </a:lnRef>
          <a:fillRef idx="1">
            <a:schemeClr val="lt1"/>
          </a:fillRef>
          <a:effectRef idx="0">
            <a:schemeClr val="accent4"/>
          </a:effectRef>
          <a:fontRef idx="minor">
            <a:schemeClr val="dk1"/>
          </a:fontRef>
        </p:style>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AT" altLang="en-AT" sz="1400" b="1" i="0" u="none" strike="noStrike" cap="none" normalizeH="0" baseline="0" dirty="0">
                <a:ln>
                  <a:noFill/>
                </a:ln>
                <a:solidFill>
                  <a:schemeClr val="tx1"/>
                </a:solidFill>
                <a:effectLst/>
                <a:latin typeface="Arial" panose="020B0604020202020204" pitchFamily="34" charset="0"/>
              </a:rPr>
              <a:t>Customer Performance &amp; Retention Overview</a:t>
            </a:r>
          </a:p>
          <a:p>
            <a:pPr marL="0" marR="0" lvl="0" indent="0" algn="l" defTabSz="914400" rtl="0" eaLnBrk="0" fontAlgn="base" latinLnBrk="0" hangingPunct="0">
              <a:lnSpc>
                <a:spcPct val="100000"/>
              </a:lnSpc>
              <a:spcBef>
                <a:spcPct val="0"/>
              </a:spcBef>
              <a:spcAft>
                <a:spcPct val="0"/>
              </a:spcAft>
              <a:buClrTx/>
              <a:buSzTx/>
              <a:buFontTx/>
              <a:buNone/>
              <a:tabLst/>
            </a:pPr>
            <a:r>
              <a:rPr kumimoji="0" lang="en-AT" altLang="en-AT" sz="1400" i="0" u="none" strike="noStrike" cap="none" normalizeH="0" baseline="0" dirty="0">
                <a:ln>
                  <a:noFill/>
                </a:ln>
                <a:solidFill>
                  <a:schemeClr val="tx1"/>
                </a:solidFill>
                <a:effectLst/>
                <a:latin typeface="Arial" panose="020B0604020202020204" pitchFamily="34" charset="0"/>
              </a:rPr>
              <a:t>This page highlights customer value, geographic distribution, and retention trends. A small group of top customers generates a significant share of sales, indicating strong high-value relationships. Customer presence is concentrated in key states, while several regions remain under-penetrated, offering expansion opportunities. Year-over-year analysis shows steady customer growth after 2019, reflecting improved acquisition and recovery. With a 98% repeat customer rate, retention is a major strength, demonstrating high customer loyalty and long-term business stability.</a:t>
            </a:r>
          </a:p>
        </p:txBody>
      </p:sp>
    </p:spTree>
    <p:extLst>
      <p:ext uri="{BB962C8B-B14F-4D97-AF65-F5344CB8AC3E}">
        <p14:creationId xmlns:p14="http://schemas.microsoft.com/office/powerpoint/2010/main" val="13162482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0D3F240-A7BC-313D-51C7-C4D8FD74098F}"/>
              </a:ext>
            </a:extLst>
          </p:cNvPr>
          <p:cNvPicPr>
            <a:picLocks noChangeAspect="1"/>
          </p:cNvPicPr>
          <p:nvPr/>
        </p:nvPicPr>
        <p:blipFill>
          <a:blip r:embed="rId2"/>
          <a:stretch>
            <a:fillRect/>
          </a:stretch>
        </p:blipFill>
        <p:spPr>
          <a:xfrm>
            <a:off x="80673" y="118986"/>
            <a:ext cx="4143953" cy="1095528"/>
          </a:xfrm>
          <a:prstGeom prst="rect">
            <a:avLst/>
          </a:prstGeom>
        </p:spPr>
        <p:style>
          <a:lnRef idx="2">
            <a:schemeClr val="accent1"/>
          </a:lnRef>
          <a:fillRef idx="1">
            <a:schemeClr val="lt1"/>
          </a:fillRef>
          <a:effectRef idx="0">
            <a:schemeClr val="accent1"/>
          </a:effectRef>
          <a:fontRef idx="minor">
            <a:schemeClr val="dk1"/>
          </a:fontRef>
        </p:style>
      </p:pic>
      <p:pic>
        <p:nvPicPr>
          <p:cNvPr id="7" name="Picture 6">
            <a:extLst>
              <a:ext uri="{FF2B5EF4-FFF2-40B4-BE49-F238E27FC236}">
                <a16:creationId xmlns:a16="http://schemas.microsoft.com/office/drawing/2014/main" id="{38BEE393-4C4F-D900-74FE-CD99A8A0921D}"/>
              </a:ext>
            </a:extLst>
          </p:cNvPr>
          <p:cNvPicPr>
            <a:picLocks noChangeAspect="1"/>
          </p:cNvPicPr>
          <p:nvPr/>
        </p:nvPicPr>
        <p:blipFill>
          <a:blip r:embed="rId3"/>
          <a:stretch>
            <a:fillRect/>
          </a:stretch>
        </p:blipFill>
        <p:spPr>
          <a:xfrm>
            <a:off x="80673" y="1323782"/>
            <a:ext cx="3210373" cy="2762636"/>
          </a:xfrm>
          <a:prstGeom prst="rect">
            <a:avLst/>
          </a:prstGeom>
        </p:spPr>
      </p:pic>
      <p:pic>
        <p:nvPicPr>
          <p:cNvPr id="9" name="Picture 8">
            <a:extLst>
              <a:ext uri="{FF2B5EF4-FFF2-40B4-BE49-F238E27FC236}">
                <a16:creationId xmlns:a16="http://schemas.microsoft.com/office/drawing/2014/main" id="{A72F59A4-4CD8-1E0A-A0C1-858BD458A1C4}"/>
              </a:ext>
            </a:extLst>
          </p:cNvPr>
          <p:cNvPicPr>
            <a:picLocks noChangeAspect="1"/>
          </p:cNvPicPr>
          <p:nvPr/>
        </p:nvPicPr>
        <p:blipFill>
          <a:blip r:embed="rId4"/>
          <a:stretch>
            <a:fillRect/>
          </a:stretch>
        </p:blipFill>
        <p:spPr>
          <a:xfrm>
            <a:off x="4728767" y="118986"/>
            <a:ext cx="5668166" cy="2172003"/>
          </a:xfrm>
          <a:prstGeom prst="rect">
            <a:avLst/>
          </a:prstGeom>
        </p:spPr>
        <p:style>
          <a:lnRef idx="2">
            <a:schemeClr val="accent1"/>
          </a:lnRef>
          <a:fillRef idx="1">
            <a:schemeClr val="lt1"/>
          </a:fillRef>
          <a:effectRef idx="0">
            <a:schemeClr val="accent1"/>
          </a:effectRef>
          <a:fontRef idx="minor">
            <a:schemeClr val="dk1"/>
          </a:fontRef>
        </p:style>
      </p:pic>
      <p:pic>
        <p:nvPicPr>
          <p:cNvPr id="11" name="Picture 10">
            <a:extLst>
              <a:ext uri="{FF2B5EF4-FFF2-40B4-BE49-F238E27FC236}">
                <a16:creationId xmlns:a16="http://schemas.microsoft.com/office/drawing/2014/main" id="{6060F7AA-CE05-1D6C-3817-B101DA898FC2}"/>
              </a:ext>
            </a:extLst>
          </p:cNvPr>
          <p:cNvPicPr>
            <a:picLocks noChangeAspect="1"/>
          </p:cNvPicPr>
          <p:nvPr/>
        </p:nvPicPr>
        <p:blipFill>
          <a:blip r:embed="rId5"/>
          <a:stretch>
            <a:fillRect/>
          </a:stretch>
        </p:blipFill>
        <p:spPr>
          <a:xfrm>
            <a:off x="4728768" y="2376330"/>
            <a:ext cx="5668166" cy="2257740"/>
          </a:xfrm>
          <a:prstGeom prst="rect">
            <a:avLst/>
          </a:prstGeom>
        </p:spPr>
        <p:style>
          <a:lnRef idx="2">
            <a:schemeClr val="accent1"/>
          </a:lnRef>
          <a:fillRef idx="1">
            <a:schemeClr val="lt1"/>
          </a:fillRef>
          <a:effectRef idx="0">
            <a:schemeClr val="accent1"/>
          </a:effectRef>
          <a:fontRef idx="minor">
            <a:schemeClr val="dk1"/>
          </a:fontRef>
        </p:style>
      </p:pic>
      <p:pic>
        <p:nvPicPr>
          <p:cNvPr id="13" name="Picture 12">
            <a:extLst>
              <a:ext uri="{FF2B5EF4-FFF2-40B4-BE49-F238E27FC236}">
                <a16:creationId xmlns:a16="http://schemas.microsoft.com/office/drawing/2014/main" id="{298A0E30-D7C8-75D9-0999-F1A77F3F8F7D}"/>
              </a:ext>
            </a:extLst>
          </p:cNvPr>
          <p:cNvPicPr>
            <a:picLocks noChangeAspect="1"/>
          </p:cNvPicPr>
          <p:nvPr/>
        </p:nvPicPr>
        <p:blipFill>
          <a:blip r:embed="rId6"/>
          <a:stretch>
            <a:fillRect/>
          </a:stretch>
        </p:blipFill>
        <p:spPr>
          <a:xfrm>
            <a:off x="80673" y="4719411"/>
            <a:ext cx="5020376" cy="2114845"/>
          </a:xfrm>
          <a:prstGeom prst="rect">
            <a:avLst/>
          </a:prstGeom>
        </p:spPr>
      </p:pic>
    </p:spTree>
    <p:extLst>
      <p:ext uri="{BB962C8B-B14F-4D97-AF65-F5344CB8AC3E}">
        <p14:creationId xmlns:p14="http://schemas.microsoft.com/office/powerpoint/2010/main" val="368407489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32321A83-35DB-32E8-0B19-82754E0E28D9}"/>
              </a:ext>
            </a:extLst>
          </p:cNvPr>
          <p:cNvSpPr txBox="1"/>
          <p:nvPr/>
        </p:nvSpPr>
        <p:spPr>
          <a:xfrm>
            <a:off x="2000249" y="861387"/>
            <a:ext cx="7905751" cy="4832092"/>
          </a:xfrm>
          <a:prstGeom prst="rect">
            <a:avLst/>
          </a:prstGeom>
          <a:noFill/>
          <a:effectLst>
            <a:outerShdw blurRad="50800" dist="38100" dir="5400000" algn="t" rotWithShape="0">
              <a:prstClr val="black">
                <a:alpha val="40000"/>
              </a:prstClr>
            </a:outerShdw>
          </a:effectLst>
        </p:spPr>
        <p:txBody>
          <a:bodyPr wrap="square">
            <a:spAutoFit/>
          </a:bodyPr>
          <a:lstStyle/>
          <a:p>
            <a:pPr>
              <a:buNone/>
            </a:pPr>
            <a:r>
              <a:rPr lang="en-GB" sz="1600" b="1" dirty="0"/>
              <a:t>Product Performance &amp; Profitability Overview</a:t>
            </a:r>
            <a:endParaRPr lang="en-AT" sz="1600" b="1" dirty="0"/>
          </a:p>
          <a:p>
            <a:pPr>
              <a:buNone/>
            </a:pPr>
            <a:endParaRPr lang="en-GB" sz="1600" b="1" dirty="0"/>
          </a:p>
          <a:p>
            <a:pPr>
              <a:buNone/>
            </a:pPr>
            <a:r>
              <a:rPr lang="en-GB" sz="1200" dirty="0"/>
              <a:t>This page provides a comprehensive view of product performance, demand consistency, and profitability across the Superstore portfolio.</a:t>
            </a:r>
            <a:endParaRPr lang="en-AT" sz="1200" dirty="0"/>
          </a:p>
          <a:p>
            <a:pPr>
              <a:buNone/>
            </a:pPr>
            <a:endParaRPr lang="en-GB" sz="1200" dirty="0"/>
          </a:p>
          <a:p>
            <a:pPr>
              <a:buNone/>
            </a:pPr>
            <a:r>
              <a:rPr lang="en-GB" sz="1200" dirty="0"/>
              <a:t>Out of 1,862 total products, a clear demand concentration is visible. A subset of products is repeatedly ordered, indicating strong and consistent customer demand. The interactive </a:t>
            </a:r>
            <a:r>
              <a:rPr lang="en-GB" sz="1200" i="1" dirty="0"/>
              <a:t>Repeated Products</a:t>
            </a:r>
            <a:r>
              <a:rPr lang="en-GB" sz="1200" dirty="0"/>
              <a:t> control highlights items ordered multiple times, helping identify core, high-velocity products that drive recurring revenue.</a:t>
            </a:r>
            <a:endParaRPr lang="en-AT" sz="1200" dirty="0"/>
          </a:p>
          <a:p>
            <a:pPr>
              <a:buNone/>
            </a:pPr>
            <a:endParaRPr lang="en-GB" sz="1200" dirty="0"/>
          </a:p>
          <a:p>
            <a:pPr>
              <a:buNone/>
            </a:pPr>
            <a:r>
              <a:rPr lang="en-GB" sz="1200" dirty="0"/>
              <a:t>The Top 10 Most Selling Products represent the primary sales contributors, dominated by office equipment and technology categories, while the Top 10 Profitable Products reveal that high revenue does not always equate to high profit—profitability is driven by a mix of pricing, cost structure, and repeat demand.</a:t>
            </a:r>
            <a:endParaRPr lang="en-AT" sz="1200" dirty="0"/>
          </a:p>
          <a:p>
            <a:pPr>
              <a:buNone/>
            </a:pPr>
            <a:endParaRPr lang="en-GB" sz="1200" dirty="0"/>
          </a:p>
          <a:p>
            <a:pPr>
              <a:buNone/>
            </a:pPr>
            <a:r>
              <a:rPr lang="en-GB" sz="1200" dirty="0"/>
              <a:t>At the same time, the loss-making products section exposes underperforming items generating negative margins. These products highlight opportunities for pricing optimization, cost reduction, supplier renegotiation, or portfolio rationalization.</a:t>
            </a:r>
            <a:endParaRPr lang="en-AT" sz="1200" dirty="0"/>
          </a:p>
          <a:p>
            <a:pPr>
              <a:buNone/>
            </a:pPr>
            <a:endParaRPr lang="en-GB" sz="1200" dirty="0"/>
          </a:p>
          <a:p>
            <a:pPr>
              <a:buNone/>
            </a:pPr>
            <a:r>
              <a:rPr lang="en-GB" sz="1200" dirty="0"/>
              <a:t>Overall, this analysis enables data-driven decisions to:</a:t>
            </a:r>
            <a:endParaRPr lang="en-AT" sz="1200" dirty="0"/>
          </a:p>
          <a:p>
            <a:pPr>
              <a:buNone/>
            </a:pPr>
            <a:endParaRPr lang="en-GB" sz="1200" dirty="0"/>
          </a:p>
          <a:p>
            <a:pPr>
              <a:buFont typeface="Arial" panose="020B0604020202020204" pitchFamily="34" charset="0"/>
              <a:buChar char="•"/>
            </a:pPr>
            <a:r>
              <a:rPr lang="en-GB" sz="1200" dirty="0"/>
              <a:t>Prioritize high-demand and high-profit products</a:t>
            </a:r>
          </a:p>
          <a:p>
            <a:pPr>
              <a:buFont typeface="Arial" panose="020B0604020202020204" pitchFamily="34" charset="0"/>
              <a:buChar char="•"/>
            </a:pPr>
            <a:r>
              <a:rPr lang="en-GB" sz="1200" dirty="0"/>
              <a:t>Reduce exposure to loss-making items</a:t>
            </a:r>
          </a:p>
          <a:p>
            <a:pPr>
              <a:buFont typeface="Arial" panose="020B0604020202020204" pitchFamily="34" charset="0"/>
              <a:buChar char="•"/>
            </a:pPr>
            <a:r>
              <a:rPr lang="en-GB" sz="1200" dirty="0"/>
              <a:t>Strengthen inventory planning based on repeat purchase </a:t>
            </a:r>
            <a:r>
              <a:rPr lang="en-GB" sz="1200" dirty="0" err="1"/>
              <a:t>behavior</a:t>
            </a:r>
            <a:endParaRPr lang="en-GB" sz="1200" dirty="0"/>
          </a:p>
          <a:p>
            <a:pPr>
              <a:buFont typeface="Arial" panose="020B0604020202020204" pitchFamily="34" charset="0"/>
              <a:buChar char="•"/>
            </a:pPr>
            <a:r>
              <a:rPr lang="en-GB" sz="1200" dirty="0"/>
              <a:t>Align product strategy with profitability, not just sales volume</a:t>
            </a:r>
            <a:endParaRPr lang="en-AT" sz="1200" dirty="0"/>
          </a:p>
          <a:p>
            <a:endParaRPr lang="en-GB" sz="1200" dirty="0"/>
          </a:p>
          <a:p>
            <a:pPr>
              <a:buNone/>
            </a:pPr>
            <a:r>
              <a:rPr lang="en-GB" sz="1200" dirty="0"/>
              <a:t>This page supports strategic actions aimed at sustainable growth, margin improvement, and operational efficiency.</a:t>
            </a:r>
          </a:p>
        </p:txBody>
      </p:sp>
    </p:spTree>
    <p:extLst>
      <p:ext uri="{BB962C8B-B14F-4D97-AF65-F5344CB8AC3E}">
        <p14:creationId xmlns:p14="http://schemas.microsoft.com/office/powerpoint/2010/main" val="275592546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D2A557B-6D46-FD7A-59E4-666D0137D26A}"/>
              </a:ext>
            </a:extLst>
          </p:cNvPr>
          <p:cNvPicPr>
            <a:picLocks noChangeAspect="1"/>
          </p:cNvPicPr>
          <p:nvPr/>
        </p:nvPicPr>
        <p:blipFill>
          <a:blip r:embed="rId2"/>
          <a:stretch>
            <a:fillRect/>
          </a:stretch>
        </p:blipFill>
        <p:spPr>
          <a:xfrm>
            <a:off x="185400" y="128376"/>
            <a:ext cx="4829849" cy="2343476"/>
          </a:xfrm>
          <a:prstGeom prst="rect">
            <a:avLst/>
          </a:prstGeom>
          <a:noFill/>
          <a:ln w="9525" cap="flat" cmpd="sng" algn="ctr">
            <a:solidFill>
              <a:schemeClr val="accent4"/>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pic>
      <p:pic>
        <p:nvPicPr>
          <p:cNvPr id="5" name="Picture 4">
            <a:extLst>
              <a:ext uri="{FF2B5EF4-FFF2-40B4-BE49-F238E27FC236}">
                <a16:creationId xmlns:a16="http://schemas.microsoft.com/office/drawing/2014/main" id="{1B5D3018-EB5F-0A6C-D89F-72C0F5935F8A}"/>
              </a:ext>
            </a:extLst>
          </p:cNvPr>
          <p:cNvPicPr>
            <a:picLocks noChangeAspect="1"/>
          </p:cNvPicPr>
          <p:nvPr/>
        </p:nvPicPr>
        <p:blipFill>
          <a:blip r:embed="rId3"/>
          <a:stretch>
            <a:fillRect/>
          </a:stretch>
        </p:blipFill>
        <p:spPr>
          <a:xfrm>
            <a:off x="5157420" y="128375"/>
            <a:ext cx="5268060" cy="2343477"/>
          </a:xfrm>
          <a:prstGeom prst="rect">
            <a:avLst/>
          </a:prstGeom>
          <a:noFill/>
          <a:ln w="9525" cap="flat" cmpd="sng" algn="ctr">
            <a:solidFill>
              <a:schemeClr val="accent4"/>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pic>
      <p:pic>
        <p:nvPicPr>
          <p:cNvPr id="7" name="Picture 6">
            <a:extLst>
              <a:ext uri="{FF2B5EF4-FFF2-40B4-BE49-F238E27FC236}">
                <a16:creationId xmlns:a16="http://schemas.microsoft.com/office/drawing/2014/main" id="{9AE2FAF5-D262-4AF5-0DA5-E89F5117BFEC}"/>
              </a:ext>
            </a:extLst>
          </p:cNvPr>
          <p:cNvPicPr>
            <a:picLocks noChangeAspect="1"/>
          </p:cNvPicPr>
          <p:nvPr/>
        </p:nvPicPr>
        <p:blipFill>
          <a:blip r:embed="rId4"/>
          <a:stretch>
            <a:fillRect/>
          </a:stretch>
        </p:blipFill>
        <p:spPr>
          <a:xfrm>
            <a:off x="185400" y="2571594"/>
            <a:ext cx="4829849" cy="2229161"/>
          </a:xfrm>
          <a:prstGeom prst="rect">
            <a:avLst/>
          </a:prstGeom>
          <a:noFill/>
          <a:ln w="9525" cap="flat" cmpd="sng" algn="ctr">
            <a:solidFill>
              <a:schemeClr val="accent4"/>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pic>
      <p:pic>
        <p:nvPicPr>
          <p:cNvPr id="9" name="Picture 8">
            <a:extLst>
              <a:ext uri="{FF2B5EF4-FFF2-40B4-BE49-F238E27FC236}">
                <a16:creationId xmlns:a16="http://schemas.microsoft.com/office/drawing/2014/main" id="{04864D18-D864-24F0-92B9-5B737CF40BFE}"/>
              </a:ext>
            </a:extLst>
          </p:cNvPr>
          <p:cNvPicPr>
            <a:picLocks noChangeAspect="1"/>
          </p:cNvPicPr>
          <p:nvPr/>
        </p:nvPicPr>
        <p:blipFill>
          <a:blip r:embed="rId5"/>
          <a:stretch>
            <a:fillRect/>
          </a:stretch>
        </p:blipFill>
        <p:spPr>
          <a:xfrm>
            <a:off x="5157420" y="2719212"/>
            <a:ext cx="5268060" cy="2081543"/>
          </a:xfrm>
          <a:prstGeom prst="rect">
            <a:avLst/>
          </a:prstGeom>
        </p:spPr>
      </p:pic>
      <p:pic>
        <p:nvPicPr>
          <p:cNvPr id="11" name="Picture 10">
            <a:extLst>
              <a:ext uri="{FF2B5EF4-FFF2-40B4-BE49-F238E27FC236}">
                <a16:creationId xmlns:a16="http://schemas.microsoft.com/office/drawing/2014/main" id="{6DB94E5A-F48C-F1DC-9637-917ED8107638}"/>
              </a:ext>
            </a:extLst>
          </p:cNvPr>
          <p:cNvPicPr>
            <a:picLocks noChangeAspect="1"/>
          </p:cNvPicPr>
          <p:nvPr/>
        </p:nvPicPr>
        <p:blipFill>
          <a:blip r:embed="rId6"/>
          <a:stretch>
            <a:fillRect/>
          </a:stretch>
        </p:blipFill>
        <p:spPr>
          <a:xfrm>
            <a:off x="10567650" y="0"/>
            <a:ext cx="1529099" cy="3429000"/>
          </a:xfrm>
          <a:prstGeom prst="rect">
            <a:avLst/>
          </a:prstGeom>
        </p:spPr>
      </p:pic>
      <p:sp>
        <p:nvSpPr>
          <p:cNvPr id="13" name="TextBox 12">
            <a:extLst>
              <a:ext uri="{FF2B5EF4-FFF2-40B4-BE49-F238E27FC236}">
                <a16:creationId xmlns:a16="http://schemas.microsoft.com/office/drawing/2014/main" id="{C47D1E42-BA6A-CCC8-2BA6-2BDD265C110C}"/>
              </a:ext>
            </a:extLst>
          </p:cNvPr>
          <p:cNvSpPr txBox="1"/>
          <p:nvPr/>
        </p:nvSpPr>
        <p:spPr>
          <a:xfrm>
            <a:off x="142874" y="6360292"/>
            <a:ext cx="4829849" cy="338554"/>
          </a:xfrm>
          <a:prstGeom prst="rect">
            <a:avLst/>
          </a:prstGeom>
          <a:noFill/>
        </p:spPr>
        <p:txBody>
          <a:bodyPr wrap="square">
            <a:spAutoFit/>
          </a:bodyPr>
          <a:lstStyle/>
          <a:p>
            <a:r>
              <a:rPr lang="en-AT" sz="1600" dirty="0"/>
              <a:t>Time and regional Analysis and Business </a:t>
            </a:r>
            <a:r>
              <a:rPr lang="en-AT" sz="1600" dirty="0" err="1"/>
              <a:t>forcast</a:t>
            </a:r>
            <a:endParaRPr lang="en-AT" sz="1600" dirty="0"/>
          </a:p>
        </p:txBody>
      </p:sp>
    </p:spTree>
    <p:extLst>
      <p:ext uri="{BB962C8B-B14F-4D97-AF65-F5344CB8AC3E}">
        <p14:creationId xmlns:p14="http://schemas.microsoft.com/office/powerpoint/2010/main" val="271991169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974C3D6-7824-9FE9-916F-31ADB163591D}"/>
              </a:ext>
            </a:extLst>
          </p:cNvPr>
          <p:cNvSpPr txBox="1"/>
          <p:nvPr/>
        </p:nvSpPr>
        <p:spPr>
          <a:xfrm>
            <a:off x="1819275" y="335845"/>
            <a:ext cx="9505950" cy="6001643"/>
          </a:xfrm>
          <a:prstGeom prst="rect">
            <a:avLst/>
          </a:prstGeom>
          <a:noFill/>
          <a:effectLst>
            <a:outerShdw blurRad="50800" dist="38100" dir="16200000" rotWithShape="0">
              <a:prstClr val="black">
                <a:alpha val="40000"/>
              </a:prstClr>
            </a:outerShdw>
          </a:effectLst>
        </p:spPr>
        <p:txBody>
          <a:bodyPr wrap="square">
            <a:spAutoFit/>
          </a:bodyPr>
          <a:lstStyle/>
          <a:p>
            <a:pPr algn="ctr">
              <a:buNone/>
            </a:pPr>
            <a:r>
              <a:rPr lang="en-GB" b="1" dirty="0"/>
              <a:t>Time &amp; Regional Performance Analysis</a:t>
            </a:r>
            <a:endParaRPr lang="en-AT" b="1" dirty="0"/>
          </a:p>
          <a:p>
            <a:pPr algn="ctr">
              <a:buNone/>
            </a:pPr>
            <a:endParaRPr lang="en-GB" b="1" dirty="0"/>
          </a:p>
          <a:p>
            <a:pPr>
              <a:buNone/>
            </a:pPr>
            <a:r>
              <a:rPr lang="en-GB" sz="1200" dirty="0"/>
              <a:t>This section </a:t>
            </a:r>
            <a:r>
              <a:rPr lang="en-GB" sz="1200" dirty="0" err="1"/>
              <a:t>analyzes</a:t>
            </a:r>
            <a:r>
              <a:rPr lang="en-GB" sz="1200" dirty="0"/>
              <a:t> sales performance across time dimensions (year, quarter, month, and day) and geographic regions to identify growth patterns, seasonality, and regional strengths.</a:t>
            </a:r>
            <a:endParaRPr lang="en-AT" sz="1200" dirty="0"/>
          </a:p>
          <a:p>
            <a:pPr>
              <a:buNone/>
            </a:pPr>
            <a:endParaRPr lang="en-GB" sz="1200" dirty="0"/>
          </a:p>
          <a:p>
            <a:pPr>
              <a:buNone/>
            </a:pPr>
            <a:r>
              <a:rPr lang="en-GB" sz="1200" dirty="0"/>
              <a:t>Sales show a consistent upward trend year over year, with strong acceleration in the most recent year, indicating healthy business growth. Monthly analysis reveals clear seasonality, with peak performance during the later months of the year, supporting demand planning and inventory optimization. Day-level patterns further highlight specific weekdays with higher sales activity, enabling better staffing and operational planning.</a:t>
            </a:r>
            <a:endParaRPr lang="en-AT" sz="1200" dirty="0"/>
          </a:p>
          <a:p>
            <a:pPr>
              <a:buNone/>
            </a:pPr>
            <a:endParaRPr lang="en-GB" sz="1200" dirty="0"/>
          </a:p>
          <a:p>
            <a:pPr>
              <a:buNone/>
            </a:pPr>
            <a:r>
              <a:rPr lang="en-GB" sz="1200" dirty="0"/>
              <a:t>From a regional perspective, revenue is unevenly distributed, with the West and East regions leading total sales, while Central and South regions show moderate but stable contributions. State-level insights identify top-performing markets and underpenetrated regions, creating opportunities for targeted regional strategies and localized marketing initiatives.</a:t>
            </a:r>
          </a:p>
          <a:p>
            <a:pPr>
              <a:buNone/>
            </a:pPr>
            <a:r>
              <a:rPr lang="en-GB" sz="1200" dirty="0"/>
              <a:t>Overall, this analysis helps the business understand when and where sales are generated, enabling more accurate forecasting, regional prioritization, and time-based decision-making.</a:t>
            </a:r>
          </a:p>
          <a:p>
            <a:pPr>
              <a:buNone/>
            </a:pPr>
            <a:br>
              <a:rPr lang="en-GB" sz="1200" dirty="0"/>
            </a:br>
            <a:endParaRPr lang="en-GB" sz="1200" dirty="0"/>
          </a:p>
          <a:p>
            <a:pPr>
              <a:buNone/>
            </a:pPr>
            <a:r>
              <a:rPr lang="en-GB" sz="1200" dirty="0"/>
              <a:t>Business Forecast &amp; Growth Outlook</a:t>
            </a:r>
          </a:p>
          <a:p>
            <a:pPr>
              <a:buNone/>
            </a:pPr>
            <a:r>
              <a:rPr lang="en-GB" sz="1200" dirty="0"/>
              <a:t>The business forecast projects next-year sales based on historical performance and year-over-year growth trends.</a:t>
            </a:r>
          </a:p>
          <a:p>
            <a:pPr>
              <a:buNone/>
            </a:pPr>
            <a:r>
              <a:rPr lang="en-GB" sz="1200" dirty="0"/>
              <a:t>Using the latest completed year as a baseline, the forecast indicates a strong positive growth trajectory, with expected sales increasing significantly in the upcoming year. The forecast delta highlights incremental revenue potential, validating the effectiveness of current sales momentum and customer retention strategies.</a:t>
            </a:r>
          </a:p>
          <a:p>
            <a:pPr>
              <a:buNone/>
            </a:pPr>
            <a:r>
              <a:rPr lang="en-GB" sz="1200" dirty="0"/>
              <a:t>This forward-looking view enables stakeholders to:</a:t>
            </a:r>
            <a:endParaRPr lang="en-AT" sz="1200" dirty="0"/>
          </a:p>
          <a:p>
            <a:pPr>
              <a:buNone/>
            </a:pPr>
            <a:endParaRPr lang="en-GB" sz="1200" dirty="0"/>
          </a:p>
          <a:p>
            <a:pPr>
              <a:buFont typeface="Arial" panose="020B0604020202020204" pitchFamily="34" charset="0"/>
              <a:buChar char="•"/>
            </a:pPr>
            <a:r>
              <a:rPr lang="en-GB" sz="1200" dirty="0"/>
              <a:t>Set realistic revenue targets</a:t>
            </a:r>
          </a:p>
          <a:p>
            <a:pPr>
              <a:buFont typeface="Arial" panose="020B0604020202020204" pitchFamily="34" charset="0"/>
              <a:buChar char="•"/>
            </a:pPr>
            <a:r>
              <a:rPr lang="en-GB" sz="1200" dirty="0"/>
              <a:t>Plan capacity, inventory, and staffing</a:t>
            </a:r>
          </a:p>
          <a:p>
            <a:pPr>
              <a:buFont typeface="Arial" panose="020B0604020202020204" pitchFamily="34" charset="0"/>
              <a:buChar char="•"/>
            </a:pPr>
            <a:r>
              <a:rPr lang="en-GB" sz="1200" dirty="0"/>
              <a:t>Align marketing and regional expansion strategies</a:t>
            </a:r>
          </a:p>
          <a:p>
            <a:pPr>
              <a:buFont typeface="Arial" panose="020B0604020202020204" pitchFamily="34" charset="0"/>
              <a:buChar char="•"/>
            </a:pPr>
            <a:r>
              <a:rPr lang="en-GB" sz="1200" dirty="0"/>
              <a:t>Identify early signals of growth acceleration or slowdown</a:t>
            </a:r>
            <a:endParaRPr lang="en-AT" sz="1200" dirty="0"/>
          </a:p>
          <a:p>
            <a:endParaRPr lang="en-GB" sz="1400" dirty="0"/>
          </a:p>
          <a:p>
            <a:pPr>
              <a:buNone/>
            </a:pPr>
            <a:r>
              <a:rPr lang="en-GB" sz="1200" dirty="0"/>
              <a:t>Overall, the forecast confirms that the business is positioned for continued expansion, provided current performance trends and operational efficiency are maintained.</a:t>
            </a:r>
          </a:p>
        </p:txBody>
      </p:sp>
    </p:spTree>
    <p:extLst>
      <p:ext uri="{BB962C8B-B14F-4D97-AF65-F5344CB8AC3E}">
        <p14:creationId xmlns:p14="http://schemas.microsoft.com/office/powerpoint/2010/main" val="219636683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603CE4E-DF07-D2B1-34F4-616C3F64B077}"/>
              </a:ext>
            </a:extLst>
          </p:cNvPr>
          <p:cNvSpPr txBox="1"/>
          <p:nvPr/>
        </p:nvSpPr>
        <p:spPr>
          <a:xfrm>
            <a:off x="438149" y="1475244"/>
            <a:ext cx="11382375" cy="3108543"/>
          </a:xfrm>
          <a:prstGeom prst="rect">
            <a:avLst/>
          </a:prstGeom>
        </p:spPr>
        <p:style>
          <a:lnRef idx="0">
            <a:schemeClr val="accent2"/>
          </a:lnRef>
          <a:fillRef idx="3">
            <a:schemeClr val="accent2"/>
          </a:fillRef>
          <a:effectRef idx="3">
            <a:schemeClr val="accent2"/>
          </a:effectRef>
          <a:fontRef idx="minor">
            <a:schemeClr val="lt1"/>
          </a:fontRef>
        </p:style>
        <p:txBody>
          <a:bodyPr wrap="square">
            <a:spAutoFit/>
          </a:bodyPr>
          <a:lstStyle/>
          <a:p>
            <a:pPr>
              <a:buNone/>
            </a:pPr>
            <a:r>
              <a:rPr lang="en-GB" sz="1400" dirty="0">
                <a:solidFill>
                  <a:schemeClr val="tx1"/>
                </a:solidFill>
              </a:rPr>
              <a:t>This project provides a comprehensive analysis of Superstore’s sales performance over four years.</a:t>
            </a:r>
            <a:br>
              <a:rPr lang="en-GB" sz="1400" dirty="0">
                <a:solidFill>
                  <a:schemeClr val="tx1"/>
                </a:solidFill>
              </a:rPr>
            </a:br>
            <a:r>
              <a:rPr lang="en-GB" sz="1400" dirty="0">
                <a:solidFill>
                  <a:schemeClr val="tx1"/>
                </a:solidFill>
              </a:rPr>
              <a:t>The analysis reveals a temporary slowdown in 2019 followed by a strong recovery and consistent growth in 2020 and 2021.</a:t>
            </a:r>
          </a:p>
          <a:p>
            <a:pPr>
              <a:buNone/>
            </a:pPr>
            <a:r>
              <a:rPr lang="en-GB" sz="1400" dirty="0">
                <a:solidFill>
                  <a:schemeClr val="tx1"/>
                </a:solidFill>
              </a:rPr>
              <a:t>Key observations include:</a:t>
            </a:r>
            <a:endParaRPr lang="en-AT" sz="1400" dirty="0">
              <a:solidFill>
                <a:schemeClr val="tx1"/>
              </a:solidFill>
            </a:endParaRPr>
          </a:p>
          <a:p>
            <a:pPr>
              <a:buNone/>
            </a:pPr>
            <a:endParaRPr lang="en-AT" sz="1400" dirty="0">
              <a:solidFill>
                <a:schemeClr val="tx1"/>
              </a:solidFill>
            </a:endParaRPr>
          </a:p>
          <a:p>
            <a:pPr>
              <a:buNone/>
            </a:pPr>
            <a:endParaRPr lang="en-GB" sz="1400" dirty="0">
              <a:solidFill>
                <a:schemeClr val="tx1"/>
              </a:solidFill>
            </a:endParaRPr>
          </a:p>
          <a:p>
            <a:pPr>
              <a:buFont typeface="Arial" panose="020B0604020202020204" pitchFamily="34" charset="0"/>
              <a:buChar char="•"/>
            </a:pPr>
            <a:r>
              <a:rPr lang="en-GB" sz="1400" dirty="0">
                <a:solidFill>
                  <a:schemeClr val="tx1"/>
                </a:solidFill>
              </a:rPr>
              <a:t>Clear seasonality, with peak sales occurring in Q4 (September–December)</a:t>
            </a:r>
            <a:endParaRPr lang="en-AT" sz="1400" dirty="0">
              <a:solidFill>
                <a:schemeClr val="tx1"/>
              </a:solidFill>
            </a:endParaRPr>
          </a:p>
          <a:p>
            <a:endParaRPr lang="en-GB" sz="1400" dirty="0">
              <a:solidFill>
                <a:schemeClr val="tx1"/>
              </a:solidFill>
            </a:endParaRPr>
          </a:p>
          <a:p>
            <a:pPr>
              <a:buFont typeface="Arial" panose="020B0604020202020204" pitchFamily="34" charset="0"/>
              <a:buChar char="•"/>
            </a:pPr>
            <a:r>
              <a:rPr lang="en-GB" sz="1400" dirty="0">
                <a:solidFill>
                  <a:schemeClr val="tx1"/>
                </a:solidFill>
              </a:rPr>
              <a:t>Strong regional concentration, where West and East regions contribute the highest share of revenue</a:t>
            </a:r>
            <a:endParaRPr lang="en-AT" sz="1400" dirty="0">
              <a:solidFill>
                <a:schemeClr val="tx1"/>
              </a:solidFill>
            </a:endParaRPr>
          </a:p>
          <a:p>
            <a:endParaRPr lang="en-GB" sz="1400" dirty="0">
              <a:solidFill>
                <a:schemeClr val="tx1"/>
              </a:solidFill>
            </a:endParaRPr>
          </a:p>
          <a:p>
            <a:pPr>
              <a:buFont typeface="Arial" panose="020B0604020202020204" pitchFamily="34" charset="0"/>
              <a:buChar char="•"/>
            </a:pPr>
            <a:r>
              <a:rPr lang="en-GB" sz="1400" dirty="0">
                <a:solidFill>
                  <a:schemeClr val="tx1"/>
                </a:solidFill>
              </a:rPr>
              <a:t>High customer retention, with repeat customers forming the majority of the customer base</a:t>
            </a:r>
            <a:endParaRPr lang="en-AT" sz="1400" dirty="0">
              <a:solidFill>
                <a:schemeClr val="tx1"/>
              </a:solidFill>
            </a:endParaRPr>
          </a:p>
          <a:p>
            <a:endParaRPr lang="en-GB" sz="1400" dirty="0">
              <a:solidFill>
                <a:schemeClr val="tx1"/>
              </a:solidFill>
            </a:endParaRPr>
          </a:p>
          <a:p>
            <a:pPr>
              <a:buFont typeface="Arial" panose="020B0604020202020204" pitchFamily="34" charset="0"/>
              <a:buChar char="•"/>
            </a:pPr>
            <a:r>
              <a:rPr lang="en-GB" sz="1400" dirty="0">
                <a:solidFill>
                  <a:schemeClr val="tx1"/>
                </a:solidFill>
              </a:rPr>
              <a:t>Product performance imbalance, where a subset of products consistently generates losses despite sales volume</a:t>
            </a:r>
            <a:endParaRPr lang="en-AT" sz="1400" dirty="0">
              <a:solidFill>
                <a:schemeClr val="tx1"/>
              </a:solidFill>
            </a:endParaRPr>
          </a:p>
          <a:p>
            <a:endParaRPr lang="en-GB" sz="1400" dirty="0">
              <a:solidFill>
                <a:schemeClr val="tx1"/>
              </a:solidFill>
            </a:endParaRPr>
          </a:p>
          <a:p>
            <a:pPr>
              <a:buNone/>
            </a:pPr>
            <a:r>
              <a:rPr lang="en-GB" sz="1400" dirty="0">
                <a:solidFill>
                  <a:schemeClr val="tx1"/>
                </a:solidFill>
              </a:rPr>
              <a:t>Using the most recent year-over-year growth trend, a forward-looking sales forecast was developed to support planning and budgeting decisions.</a:t>
            </a:r>
          </a:p>
        </p:txBody>
      </p:sp>
      <p:sp>
        <p:nvSpPr>
          <p:cNvPr id="5" name="TextBox 4">
            <a:extLst>
              <a:ext uri="{FF2B5EF4-FFF2-40B4-BE49-F238E27FC236}">
                <a16:creationId xmlns:a16="http://schemas.microsoft.com/office/drawing/2014/main" id="{4BAEE0B4-2D96-8BEE-EEE2-DBDCA815EF5A}"/>
              </a:ext>
            </a:extLst>
          </p:cNvPr>
          <p:cNvSpPr txBox="1"/>
          <p:nvPr/>
        </p:nvSpPr>
        <p:spPr>
          <a:xfrm>
            <a:off x="2952750" y="382012"/>
            <a:ext cx="6096000" cy="461665"/>
          </a:xfrm>
          <a:prstGeom prst="rect">
            <a:avLst/>
          </a:prstGeom>
          <a:noFill/>
          <a:effectLst>
            <a:outerShdw blurRad="50800" dist="38100" dir="5400000" algn="t" rotWithShape="0">
              <a:prstClr val="black">
                <a:alpha val="40000"/>
              </a:prstClr>
            </a:outerShdw>
          </a:effectLst>
        </p:spPr>
        <p:txBody>
          <a:bodyPr wrap="square">
            <a:spAutoFit/>
          </a:bodyPr>
          <a:lstStyle/>
          <a:p>
            <a:pPr>
              <a:buNone/>
            </a:pPr>
            <a:r>
              <a:rPr lang="en-GB" sz="2400" b="1" dirty="0"/>
              <a:t>Business Storytelling (Executive Narrative)</a:t>
            </a:r>
          </a:p>
        </p:txBody>
      </p:sp>
    </p:spTree>
    <p:extLst>
      <p:ext uri="{BB962C8B-B14F-4D97-AF65-F5344CB8AC3E}">
        <p14:creationId xmlns:p14="http://schemas.microsoft.com/office/powerpoint/2010/main" val="333359488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18F646D-27B5-D391-9F95-8C51269B2E3D}"/>
              </a:ext>
            </a:extLst>
          </p:cNvPr>
          <p:cNvSpPr txBox="1"/>
          <p:nvPr/>
        </p:nvSpPr>
        <p:spPr>
          <a:xfrm>
            <a:off x="1257300" y="1720840"/>
            <a:ext cx="9753600" cy="3877985"/>
          </a:xfrm>
          <a:prstGeom prst="rect">
            <a:avLst/>
          </a:prstGeom>
        </p:spPr>
        <p:style>
          <a:lnRef idx="1">
            <a:schemeClr val="accent4"/>
          </a:lnRef>
          <a:fillRef idx="2">
            <a:schemeClr val="accent4"/>
          </a:fillRef>
          <a:effectRef idx="1">
            <a:schemeClr val="accent4"/>
          </a:effectRef>
          <a:fontRef idx="minor">
            <a:schemeClr val="dk1"/>
          </a:fontRef>
        </p:style>
        <p:txBody>
          <a:bodyPr wrap="square">
            <a:spAutoFit/>
          </a:bodyPr>
          <a:lstStyle/>
          <a:p>
            <a:pPr>
              <a:buNone/>
            </a:pPr>
            <a:r>
              <a:rPr lang="en-GB" b="1" dirty="0"/>
              <a:t>Final Conclusion</a:t>
            </a:r>
            <a:r>
              <a:rPr lang="en-AT" b="1" dirty="0"/>
              <a:t>:</a:t>
            </a:r>
          </a:p>
          <a:p>
            <a:pPr>
              <a:buNone/>
            </a:pPr>
            <a:endParaRPr lang="en-AT" b="1" dirty="0"/>
          </a:p>
          <a:p>
            <a:pPr>
              <a:buNone/>
            </a:pPr>
            <a:endParaRPr lang="en-GB" b="1" dirty="0"/>
          </a:p>
          <a:p>
            <a:pPr>
              <a:buNone/>
            </a:pPr>
            <a:r>
              <a:rPr lang="en-GB" sz="1600" dirty="0"/>
              <a:t>The analysis demonstrates that Superstore has a scalable and growth-oriented business model, supported by strong customer retention and regional performance.</a:t>
            </a:r>
          </a:p>
          <a:p>
            <a:pPr>
              <a:buNone/>
            </a:pPr>
            <a:r>
              <a:rPr lang="en-GB" sz="1600" dirty="0"/>
              <a:t>However, the presence of loss-making products highlights the need for:</a:t>
            </a:r>
            <a:endParaRPr lang="en-AT" sz="1600" dirty="0"/>
          </a:p>
          <a:p>
            <a:pPr>
              <a:buNone/>
            </a:pPr>
            <a:endParaRPr lang="en-GB" sz="1600" dirty="0"/>
          </a:p>
          <a:p>
            <a:pPr>
              <a:buFont typeface="Arial" panose="020B0604020202020204" pitchFamily="34" charset="0"/>
              <a:buChar char="•"/>
            </a:pPr>
            <a:r>
              <a:rPr lang="en-GB" sz="1600" dirty="0"/>
              <a:t>Product portfolio optimization</a:t>
            </a:r>
            <a:endParaRPr lang="en-AT" sz="1600" dirty="0"/>
          </a:p>
          <a:p>
            <a:endParaRPr lang="en-GB" sz="1600" dirty="0"/>
          </a:p>
          <a:p>
            <a:pPr>
              <a:buFont typeface="Arial" panose="020B0604020202020204" pitchFamily="34" charset="0"/>
              <a:buChar char="•"/>
            </a:pPr>
            <a:r>
              <a:rPr lang="en-GB" sz="1600" dirty="0"/>
              <a:t>Pricing and discount strategy review</a:t>
            </a:r>
            <a:endParaRPr lang="en-AT" sz="1600" dirty="0"/>
          </a:p>
          <a:p>
            <a:endParaRPr lang="en-GB" sz="1600" dirty="0"/>
          </a:p>
          <a:p>
            <a:pPr>
              <a:buFont typeface="Arial" panose="020B0604020202020204" pitchFamily="34" charset="0"/>
              <a:buChar char="•"/>
            </a:pPr>
            <a:r>
              <a:rPr lang="en-GB" sz="1600" dirty="0"/>
              <a:t>Region-specific performance management</a:t>
            </a:r>
            <a:endParaRPr lang="en-AT" sz="1600" dirty="0"/>
          </a:p>
          <a:p>
            <a:endParaRPr lang="en-GB" sz="1600" dirty="0"/>
          </a:p>
          <a:p>
            <a:pPr>
              <a:buNone/>
            </a:pPr>
            <a:r>
              <a:rPr lang="en-GB" sz="1600" dirty="0"/>
              <a:t>With targeted improvements, Superstore has the potential to outperform the projected forecast and achieve sustainable long-term growth.</a:t>
            </a:r>
          </a:p>
        </p:txBody>
      </p:sp>
    </p:spTree>
    <p:extLst>
      <p:ext uri="{BB962C8B-B14F-4D97-AF65-F5344CB8AC3E}">
        <p14:creationId xmlns:p14="http://schemas.microsoft.com/office/powerpoint/2010/main" val="3512876801"/>
      </p:ext>
    </p:extLst>
  </p:cSld>
  <p:clrMapOvr>
    <a:masterClrMapping/>
  </p:clrMapOvr>
</p:sld>
</file>

<file path=ppt/theme/theme1.xml><?xml version="1.0" encoding="utf-8"?>
<a:theme xmlns:a="http://schemas.openxmlformats.org/drawingml/2006/main" name="Basis">
  <a:themeElements>
    <a:clrScheme name="Basis">
      <a:dk1>
        <a:srgbClr val="000000"/>
      </a:dk1>
      <a:lt1>
        <a:srgbClr val="FFFFFF"/>
      </a:lt1>
      <a:dk2>
        <a:srgbClr val="565349"/>
      </a:dk2>
      <a:lt2>
        <a:srgbClr val="DDDDDD"/>
      </a:lt2>
      <a:accent1>
        <a:srgbClr val="A6B727"/>
      </a:accent1>
      <a:accent2>
        <a:srgbClr val="DF5327"/>
      </a:accent2>
      <a:accent3>
        <a:srgbClr val="FE9E00"/>
      </a:accent3>
      <a:accent4>
        <a:srgbClr val="418AB3"/>
      </a:accent4>
      <a:accent5>
        <a:srgbClr val="D7D447"/>
      </a:accent5>
      <a:accent6>
        <a:srgbClr val="818183"/>
      </a:accent6>
      <a:hlink>
        <a:srgbClr val="F59E00"/>
      </a:hlink>
      <a:folHlink>
        <a:srgbClr val="B2B2B2"/>
      </a:folHlink>
    </a:clrScheme>
    <a:fontScheme name="Basis">
      <a:majorFont>
        <a:latin typeface="Corbel" panose="020B0503020204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panose="020B0503020204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Basis">
      <a:fillStyleLst>
        <a:solidFill>
          <a:schemeClr val="phClr"/>
        </a:solidFill>
        <a:solidFill>
          <a:schemeClr val="phClr">
            <a:tint val="55000"/>
            <a:satMod val="130000"/>
          </a:schemeClr>
        </a:solidFill>
        <a:gradFill rotWithShape="1">
          <a:gsLst>
            <a:gs pos="0">
              <a:schemeClr val="phClr"/>
            </a:gs>
            <a:gs pos="90000">
              <a:schemeClr val="phClr">
                <a:shade val="100000"/>
                <a:satMod val="105000"/>
              </a:schemeClr>
            </a:gs>
            <a:gs pos="100000">
              <a:schemeClr val="phClr">
                <a:shade val="80000"/>
                <a:satMod val="120000"/>
              </a:schemeClr>
            </a:gs>
          </a:gsLst>
          <a:path path="circle">
            <a:fillToRect l="100000" t="100000" r="100000" b="100000"/>
          </a:path>
        </a:gradFill>
      </a:fillStyleLst>
      <a:lnStyleLst>
        <a:ln w="10000" cap="flat" cmpd="sng" algn="ctr">
          <a:solidFill>
            <a:schemeClr val="phClr"/>
          </a:solidFill>
          <a:prstDash val="solid"/>
        </a:ln>
        <a:ln w="19050" cap="flat" cmpd="sng" algn="ctr">
          <a:solidFill>
            <a:schemeClr val="phClr"/>
          </a:solidFill>
          <a:prstDash val="solid"/>
        </a:ln>
        <a:ln w="53975" cap="flat" cmpd="dbl"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38100" dist="25400" dir="5400000" rotWithShape="0">
              <a:srgbClr val="000000">
                <a:alpha val="45000"/>
              </a:srgbClr>
            </a:outerShdw>
          </a:effectLst>
          <a:scene3d>
            <a:camera prst="orthographicFront">
              <a:rot lat="0" lon="0" rev="0"/>
            </a:camera>
            <a:lightRig rig="brightRoom" dir="t"/>
          </a:scene3d>
          <a:sp3d extrusionH="12700" contourW="25400" prstMaterial="flat">
            <a:bevelT w="63500" h="152400" prst="angle"/>
            <a:contourClr>
              <a:schemeClr val="phClr">
                <a:shade val="27000"/>
                <a:satMod val="120000"/>
              </a:schemeClr>
            </a:contourClr>
          </a:sp3d>
        </a:effectStyle>
      </a:effectStyleLst>
      <a:bgFillStyleLst>
        <a:solidFill>
          <a:schemeClr val="phClr"/>
        </a:solidFill>
        <a:solidFill>
          <a:schemeClr val="phClr">
            <a:tint val="95000"/>
            <a:shade val="95000"/>
            <a:satMod val="140000"/>
          </a:schemeClr>
        </a:solidFill>
        <a:solidFill>
          <a:schemeClr val="phClr">
            <a:tint val="90000"/>
            <a:shade val="85000"/>
            <a:satMod val="160000"/>
            <a:lumMod val="110000"/>
          </a:schemeClr>
        </a:solidFill>
      </a:bgFillStyleLst>
    </a:fmtScheme>
  </a:themeElements>
  <a:objectDefaults/>
  <a:extraClrSchemeLst/>
  <a:extLst>
    <a:ext uri="{05A4C25C-085E-4340-85A3-A5531E510DB2}">
      <thm15:themeFamily xmlns:thm15="http://schemas.microsoft.com/office/thememl/2012/main" name="Basis" id="{5665723A-49BA-4B57-8411-A56F8F207965}" vid="{90E45F77-AEFC-46EF-A7C1-5B338C297B02}"/>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TM03457444[[fn=Basis]]</Template>
  <TotalTime>0</TotalTime>
  <Words>1370</Words>
  <Application>Microsoft Office PowerPoint</Application>
  <PresentationFormat>Widescreen</PresentationFormat>
  <Paragraphs>114</Paragraphs>
  <Slides>13</Slides>
  <Notes>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Aptos</vt:lpstr>
      <vt:lpstr>Arial</vt:lpstr>
      <vt:lpstr>Corbel</vt:lpstr>
      <vt:lpstr>Basis</vt:lpstr>
      <vt:lpstr>Project Title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runa laila</dc:creator>
  <cp:lastModifiedBy>runa laila</cp:lastModifiedBy>
  <cp:revision>3</cp:revision>
  <dcterms:created xsi:type="dcterms:W3CDTF">2026-01-13T21:40:03Z</dcterms:created>
  <dcterms:modified xsi:type="dcterms:W3CDTF">2026-01-17T20:14:34Z</dcterms:modified>
</cp:coreProperties>
</file>